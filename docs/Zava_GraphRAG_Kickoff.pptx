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8182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Over the next 10 weeks we'll build a real AI agent together. Today: why we're doing it, what we'll build, how it works, the plan, and what happens in week one.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parts. Questions are welcome at any point, and there's time for Q&amp;A at the end.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one sentence to remember. Two parts: build an agent that works, and measure that the graph actually improves answers compared with plain RAG.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Plain RAG embeds text chunks and finds the most similar ones. Great for single facts. But when an answer is spread over several documents, or needs a list of everything that matches, similarity search misses pieces.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GraphRAG turns documents into a graph of entities and relationships. To compare two plans, the agent doesn't hunt for one lucky paragraph: it follows the COVERS links from both plans and compares. The plans and services here are illustrative, not taken from the documents.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Zava is a fictional company from Microsoft's official Azure RAG sample (Azure-Samples/azure-search-openai-demo). Seven files, about 4 MB, MIT license. Small enough that everyone can read all of it and check any answer by hand.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mix of question types. The graph matters most for comparisons, lists and relationships. The last row matters too: a good agent says when the documents don't have the answer.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flows share one database. Flow A runs once: documents are read, split, embedded, and entities are extracted and saved to Neo4j. Flow B runs for every question: the agent calls tools that read from Neo4j and answers with sources.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full picture. Left: what runs on your laptop, which is the Streamlit UI, the agent tools, Neo4j and the build script. Right: Azure, with the Foundry project holding the agent and both models, plus Document Intelligence. Black arrows build the graph, purple arrows answer a question.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Azure AI services and three local tools. Foundry holds the models and the agent. Document Intelligence reads the PDFs. Everything else runs on your laptop.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Tools are Python functions in our code. The agent in Foundry decides when to call them; this is function calling. The baseline is the same agent with only one tool, so the comparison is fair.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layers in one database. Document and Chunk hold the text and the vectors. The other six labels are extracted by the LLM. MENTIONS ties them together, so every fact can be traced back to its source. The examples are illustrative.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phases. The first four weeks we work together on the basics, the baseline and the test questions. Then we build the graph, then the GraphRAG agent, and we finish with a UI and a live demo. The start date is [Start date].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decide how to measure before we build, so the questions aren't tuned to the graph. Both agents answer the same questions, and we compare by question type.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use the Azure AI services the solution needs, and skip production operations. If we finish early, stretch goals include Foundry evaluations and a second agent.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four weeks together, so everyone understands the whole system. Then two tracks. With few interns, one person can cover both. Keep pull requests small and reviewed.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Week one is only about getting set up. By Friday, every laptop should run Neo4j and get an answer from a Foundry model. Ask early if anything blocks you.</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Thanks. Everything is in the repo: the README for setup, docs/PLAN.md for the full plan. Questions now, and anytime during the internship.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cxnSp>
        <p:nvCxnSpPr>
          <p:cNvPr id="2" name="Connector 1"/>
          <p:cNvCxnSpPr/>
          <p:nvPr/>
        </p:nvCxnSpPr>
        <p:spPr>
          <a:xfrm flipV="1">
            <a:off x="8503920" y="3657600"/>
            <a:ext cx="1097280" cy="274320"/>
          </a:xfrm>
          <a:prstGeom prst="line">
            <a:avLst/>
          </a:prstGeom>
          <a:ln w="2540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9601200" y="3657600"/>
            <a:ext cx="1280160" cy="457200"/>
          </a:xfrm>
          <a:prstGeom prst="line">
            <a:avLst/>
          </a:prstGeom>
          <a:ln w="2540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503920" y="3931920"/>
            <a:ext cx="457200" cy="1005840"/>
          </a:xfrm>
          <a:prstGeom prst="line">
            <a:avLst/>
          </a:prstGeom>
          <a:ln w="2540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01200" y="3657600"/>
            <a:ext cx="548640" cy="1188720"/>
          </a:xfrm>
          <a:prstGeom prst="line">
            <a:avLst/>
          </a:prstGeom>
          <a:ln w="2540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10149840" y="4114800"/>
            <a:ext cx="731520" cy="731520"/>
          </a:xfrm>
          <a:prstGeom prst="line">
            <a:avLst/>
          </a:prstGeom>
          <a:ln w="2540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8961120" y="4846320"/>
            <a:ext cx="1188720" cy="91440"/>
          </a:xfrm>
          <a:prstGeom prst="line">
            <a:avLst/>
          </a:prstGeom>
          <a:ln w="2540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149840" y="4846320"/>
            <a:ext cx="1097280" cy="640080"/>
          </a:xfrm>
          <a:prstGeom prst="line">
            <a:avLst/>
          </a:prstGeom>
          <a:ln w="2540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961120" y="4937760"/>
            <a:ext cx="548640" cy="914400"/>
          </a:xfrm>
          <a:prstGeom prst="line">
            <a:avLst/>
          </a:prstGeom>
          <a:ln w="2540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9509760" y="5486400"/>
            <a:ext cx="1737360" cy="365760"/>
          </a:xfrm>
          <a:prstGeom prst="line">
            <a:avLst/>
          </a:prstGeom>
          <a:ln w="2540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8229600" y="4937760"/>
            <a:ext cx="731520" cy="822960"/>
          </a:xfrm>
          <a:prstGeom prst="line">
            <a:avLst/>
          </a:prstGeom>
          <a:ln w="25400">
            <a:solidFill>
              <a:srgbClr val="4D4D4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229600" y="5760720"/>
            <a:ext cx="1280160" cy="91440"/>
          </a:xfrm>
          <a:prstGeom prst="line">
            <a:avLst/>
          </a:prstGeom>
          <a:ln w="25400">
            <a:solidFill>
              <a:srgbClr val="4D4D4D"/>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357616" y="3785615"/>
            <a:ext cx="292608" cy="29260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9454896" y="3511296"/>
            <a:ext cx="292608" cy="292608"/>
          </a:xfrm>
          <a:prstGeom prst="ellipse">
            <a:avLst/>
          </a:prstGeom>
          <a:solidFill>
            <a:srgbClr val="C7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10735056" y="3968496"/>
            <a:ext cx="292608" cy="29260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814816" y="4791456"/>
            <a:ext cx="292608" cy="29260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10003536" y="4700016"/>
            <a:ext cx="292608" cy="292608"/>
          </a:xfrm>
          <a:prstGeom prst="ellipse">
            <a:avLst/>
          </a:prstGeom>
          <a:solidFill>
            <a:srgbClr val="C7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11100816" y="5340096"/>
            <a:ext cx="292608" cy="29260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9363456" y="5705856"/>
            <a:ext cx="292608" cy="29260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8083296" y="5614416"/>
            <a:ext cx="292608" cy="292608"/>
          </a:xfrm>
          <a:prstGeom prst="ellipse">
            <a:avLst/>
          </a:prstGeom>
          <a:solidFill>
            <a:srgbClr val="C7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31520" y="731520"/>
            <a:ext cx="7315200" cy="365760"/>
          </a:xfrm>
          <a:prstGeom prst="rect">
            <a:avLst/>
          </a:prstGeom>
          <a:noFill/>
        </p:spPr>
        <p:txBody>
          <a:bodyPr wrap="square" lIns="0" tIns="0" rIns="0" bIns="0" anchor="t">
            <a:spAutoFit/>
          </a:bodyPr>
          <a:lstStyle/>
          <a:p>
            <a:pPr algn="l"/>
            <a:r>
              <a:rPr sz="1400" b="1" i="0" spc="300">
                <a:solidFill>
                  <a:srgbClr val="C77DFF"/>
                </a:solidFill>
                <a:latin typeface="Arial"/>
              </a:rPr>
              <a:t>INTERNSHIP KICKOFF</a:t>
            </a:r>
          </a:p>
        </p:txBody>
      </p:sp>
      <p:sp>
        <p:nvSpPr>
          <p:cNvPr id="22" name="TextBox 21"/>
          <p:cNvSpPr txBox="1"/>
          <p:nvPr/>
        </p:nvSpPr>
        <p:spPr>
          <a:xfrm>
            <a:off x="731520" y="2286000"/>
            <a:ext cx="9144000" cy="1097280"/>
          </a:xfrm>
          <a:prstGeom prst="rect">
            <a:avLst/>
          </a:prstGeom>
          <a:noFill/>
        </p:spPr>
        <p:txBody>
          <a:bodyPr wrap="square" lIns="0" tIns="0" rIns="0" bIns="0" anchor="t">
            <a:spAutoFit/>
          </a:bodyPr>
          <a:lstStyle/>
          <a:p>
            <a:pPr algn="l"/>
            <a:r>
              <a:rPr sz="6000" b="1" i="0">
                <a:solidFill>
                  <a:srgbClr val="FFFFFF"/>
                </a:solidFill>
                <a:latin typeface="Arial"/>
              </a:rPr>
              <a:t>Zava GraphRAG Agent</a:t>
            </a:r>
          </a:p>
        </p:txBody>
      </p:sp>
      <p:sp>
        <p:nvSpPr>
          <p:cNvPr id="23" name="TextBox 22"/>
          <p:cNvSpPr txBox="1"/>
          <p:nvPr/>
        </p:nvSpPr>
        <p:spPr>
          <a:xfrm>
            <a:off x="731520" y="3429000"/>
            <a:ext cx="8229600" cy="548640"/>
          </a:xfrm>
          <a:prstGeom prst="rect">
            <a:avLst/>
          </a:prstGeom>
          <a:noFill/>
        </p:spPr>
        <p:txBody>
          <a:bodyPr wrap="square" lIns="0" tIns="0" rIns="0" bIns="0" anchor="t">
            <a:spAutoFit/>
          </a:bodyPr>
          <a:lstStyle/>
          <a:p>
            <a:pPr algn="l"/>
            <a:r>
              <a:rPr sz="2400" b="0" i="0">
                <a:solidFill>
                  <a:srgbClr val="CCCCCC"/>
                </a:solidFill>
                <a:latin typeface="Arial"/>
              </a:rPr>
              <a:t>Building an AI agent on Microsoft Foundry and Neo4j</a:t>
            </a:r>
          </a:p>
        </p:txBody>
      </p:sp>
      <p:sp>
        <p:nvSpPr>
          <p:cNvPr id="24" name="TextBox 23"/>
          <p:cNvSpPr txBox="1"/>
          <p:nvPr/>
        </p:nvSpPr>
        <p:spPr>
          <a:xfrm>
            <a:off x="731520" y="5852160"/>
            <a:ext cx="7315200" cy="215444"/>
          </a:xfrm>
          <a:prstGeom prst="rect">
            <a:avLst/>
          </a:prstGeom>
          <a:noFill/>
        </p:spPr>
        <p:txBody>
          <a:bodyPr wrap="square" lIns="0" tIns="0" rIns="0" bIns="0" anchor="t">
            <a:spAutoFit/>
          </a:bodyPr>
          <a:lstStyle/>
          <a:p>
            <a:pPr algn="l"/>
            <a:r>
              <a:rPr sz="1400" b="0" i="0" dirty="0">
                <a:solidFill>
                  <a:srgbClr val="CCCCCC"/>
                </a:solidFill>
                <a:latin typeface="Arial"/>
              </a:rPr>
              <a:t>[</a:t>
            </a:r>
            <a:r>
              <a:rPr lang="en-US" sz="1400" b="0" i="0" dirty="0">
                <a:solidFill>
                  <a:srgbClr val="CCCCCC"/>
                </a:solidFill>
                <a:latin typeface="Arial"/>
              </a:rPr>
              <a:t>05.10.26</a:t>
            </a:r>
            <a:r>
              <a:rPr sz="1400" b="0" i="0" dirty="0">
                <a:solidFill>
                  <a:srgbClr val="CCCCCC"/>
                </a:solidFill>
                <a:latin typeface="Arial"/>
              </a:rPr>
              <a:t>] · [</a:t>
            </a:r>
            <a:r>
              <a:rPr lang="en-US" sz="1400" b="0" i="0" dirty="0" err="1">
                <a:solidFill>
                  <a:srgbClr val="CCCCCC"/>
                </a:solidFill>
                <a:latin typeface="Arial"/>
              </a:rPr>
              <a:t>Vachik</a:t>
            </a:r>
            <a:r>
              <a:rPr lang="en-US" sz="1400" b="0" i="0" dirty="0">
                <a:solidFill>
                  <a:srgbClr val="CCCCCC"/>
                </a:solidFill>
                <a:latin typeface="Arial"/>
              </a:rPr>
              <a:t> </a:t>
            </a:r>
            <a:r>
              <a:rPr lang="en-US" sz="1400" b="0" i="0" dirty="0" err="1">
                <a:solidFill>
                  <a:srgbClr val="CCCCCC"/>
                </a:solidFill>
                <a:latin typeface="Arial"/>
              </a:rPr>
              <a:t>Tevosian</a:t>
            </a:r>
            <a:r>
              <a:rPr sz="1400" b="0" i="0" dirty="0">
                <a:solidFill>
                  <a:srgbClr val="CCCCCC"/>
                </a:solidFill>
                <a:latin typeface="Arial"/>
              </a:rPr>
              <a:t>], internship lead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AGENDA</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What we'll cover today</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274320"/>
          </a:xfrm>
          <a:prstGeom prst="rect">
            <a:avLst/>
          </a:prstGeom>
          <a:noFill/>
        </p:spPr>
        <p:txBody>
          <a:bodyPr wrap="square" lIns="0" tIns="0" rIns="0" bIns="0" anchor="t">
            <a:spAutoFit/>
          </a:bodyPr>
          <a:lstStyle/>
          <a:p>
            <a:pPr algn="r"/>
            <a:r>
              <a:rPr sz="1000" b="0" i="0">
                <a:solidFill>
                  <a:srgbClr val="666666"/>
                </a:solidFill>
                <a:latin typeface="Arial"/>
              </a:rPr>
              <a:t>02</a:t>
            </a:r>
          </a:p>
        </p:txBody>
      </p:sp>
      <p:sp>
        <p:nvSpPr>
          <p:cNvPr id="6" name="Rounded Rectangle 5"/>
          <p:cNvSpPr/>
          <p:nvPr/>
        </p:nvSpPr>
        <p:spPr>
          <a:xfrm>
            <a:off x="548640" y="1828800"/>
            <a:ext cx="2036003" cy="31089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2103120"/>
            <a:ext cx="1487363" cy="640080"/>
          </a:xfrm>
          <a:prstGeom prst="rect">
            <a:avLst/>
          </a:prstGeom>
          <a:noFill/>
        </p:spPr>
        <p:txBody>
          <a:bodyPr wrap="square" lIns="0" tIns="0" rIns="0" bIns="0" anchor="t">
            <a:spAutoFit/>
          </a:bodyPr>
          <a:lstStyle/>
          <a:p>
            <a:pPr algn="l"/>
            <a:r>
              <a:rPr sz="3600" b="1" i="0">
                <a:solidFill>
                  <a:srgbClr val="A100FF"/>
                </a:solidFill>
                <a:latin typeface="Arial"/>
              </a:rPr>
              <a:t>01</a:t>
            </a:r>
          </a:p>
        </p:txBody>
      </p:sp>
      <p:sp>
        <p:nvSpPr>
          <p:cNvPr id="8" name="TextBox 7"/>
          <p:cNvSpPr txBox="1"/>
          <p:nvPr/>
        </p:nvSpPr>
        <p:spPr>
          <a:xfrm>
            <a:off x="822959" y="2926080"/>
            <a:ext cx="1487363" cy="457200"/>
          </a:xfrm>
          <a:prstGeom prst="rect">
            <a:avLst/>
          </a:prstGeom>
          <a:noFill/>
        </p:spPr>
        <p:txBody>
          <a:bodyPr wrap="square" lIns="0" tIns="0" rIns="0" bIns="0" anchor="t">
            <a:spAutoFit/>
          </a:bodyPr>
          <a:lstStyle/>
          <a:p>
            <a:pPr algn="l"/>
            <a:r>
              <a:rPr sz="2200" b="1" i="0">
                <a:solidFill>
                  <a:srgbClr val="000000"/>
                </a:solidFill>
                <a:latin typeface="Arial"/>
              </a:rPr>
              <a:t>Why</a:t>
            </a:r>
          </a:p>
        </p:txBody>
      </p:sp>
      <p:sp>
        <p:nvSpPr>
          <p:cNvPr id="9" name="TextBox 8"/>
          <p:cNvSpPr txBox="1"/>
          <p:nvPr/>
        </p:nvSpPr>
        <p:spPr>
          <a:xfrm>
            <a:off x="822959" y="3474720"/>
            <a:ext cx="1487363" cy="1280160"/>
          </a:xfrm>
          <a:prstGeom prst="rect">
            <a:avLst/>
          </a:prstGeom>
          <a:noFill/>
        </p:spPr>
        <p:txBody>
          <a:bodyPr wrap="square" lIns="0" tIns="0" rIns="0" bIns="0" anchor="t">
            <a:spAutoFit/>
          </a:bodyPr>
          <a:lstStyle/>
          <a:p>
            <a:pPr algn="l"/>
            <a:r>
              <a:rPr sz="1500" b="0" i="0">
                <a:solidFill>
                  <a:srgbClr val="3C3C3C"/>
                </a:solidFill>
                <a:latin typeface="Arial"/>
              </a:rPr>
              <a:t>Our goal and why a knowledge graph helps</a:t>
            </a:r>
          </a:p>
        </p:txBody>
      </p:sp>
      <p:sp>
        <p:nvSpPr>
          <p:cNvPr id="10" name="Rounded Rectangle 9"/>
          <p:cNvSpPr/>
          <p:nvPr/>
        </p:nvSpPr>
        <p:spPr>
          <a:xfrm>
            <a:off x="2813243" y="1828800"/>
            <a:ext cx="2036003" cy="31089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087563" y="2103120"/>
            <a:ext cx="1487363" cy="640080"/>
          </a:xfrm>
          <a:prstGeom prst="rect">
            <a:avLst/>
          </a:prstGeom>
          <a:noFill/>
        </p:spPr>
        <p:txBody>
          <a:bodyPr wrap="square" lIns="0" tIns="0" rIns="0" bIns="0" anchor="t">
            <a:spAutoFit/>
          </a:bodyPr>
          <a:lstStyle/>
          <a:p>
            <a:pPr algn="l"/>
            <a:r>
              <a:rPr sz="3600" b="1" i="0">
                <a:solidFill>
                  <a:srgbClr val="A100FF"/>
                </a:solidFill>
                <a:latin typeface="Arial"/>
              </a:rPr>
              <a:t>02</a:t>
            </a:r>
          </a:p>
        </p:txBody>
      </p:sp>
      <p:sp>
        <p:nvSpPr>
          <p:cNvPr id="12" name="TextBox 11"/>
          <p:cNvSpPr txBox="1"/>
          <p:nvPr/>
        </p:nvSpPr>
        <p:spPr>
          <a:xfrm>
            <a:off x="3087563" y="2926080"/>
            <a:ext cx="1487363" cy="457200"/>
          </a:xfrm>
          <a:prstGeom prst="rect">
            <a:avLst/>
          </a:prstGeom>
          <a:noFill/>
        </p:spPr>
        <p:txBody>
          <a:bodyPr wrap="square" lIns="0" tIns="0" rIns="0" bIns="0" anchor="t">
            <a:spAutoFit/>
          </a:bodyPr>
          <a:lstStyle/>
          <a:p>
            <a:pPr algn="l"/>
            <a:r>
              <a:rPr sz="2200" b="1" i="0">
                <a:solidFill>
                  <a:srgbClr val="000000"/>
                </a:solidFill>
                <a:latin typeface="Arial"/>
              </a:rPr>
              <a:t>What</a:t>
            </a:r>
          </a:p>
        </p:txBody>
      </p:sp>
      <p:sp>
        <p:nvSpPr>
          <p:cNvPr id="13" name="TextBox 12"/>
          <p:cNvSpPr txBox="1"/>
          <p:nvPr/>
        </p:nvSpPr>
        <p:spPr>
          <a:xfrm>
            <a:off x="3087563" y="3474720"/>
            <a:ext cx="1487363" cy="1280160"/>
          </a:xfrm>
          <a:prstGeom prst="rect">
            <a:avLst/>
          </a:prstGeom>
          <a:noFill/>
        </p:spPr>
        <p:txBody>
          <a:bodyPr wrap="square" lIns="0" tIns="0" rIns="0" bIns="0" anchor="t">
            <a:spAutoFit/>
          </a:bodyPr>
          <a:lstStyle/>
          <a:p>
            <a:pPr algn="l"/>
            <a:r>
              <a:rPr sz="1500" b="0" i="0">
                <a:solidFill>
                  <a:srgbClr val="3C3C3C"/>
                </a:solidFill>
                <a:latin typeface="Arial"/>
              </a:rPr>
              <a:t>The Zava use case and its questions</a:t>
            </a:r>
          </a:p>
        </p:txBody>
      </p:sp>
      <p:sp>
        <p:nvSpPr>
          <p:cNvPr id="14" name="Rounded Rectangle 13"/>
          <p:cNvSpPr/>
          <p:nvPr/>
        </p:nvSpPr>
        <p:spPr>
          <a:xfrm>
            <a:off x="5077846" y="1828800"/>
            <a:ext cx="2036003" cy="31089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352166" y="2103120"/>
            <a:ext cx="1487363" cy="640080"/>
          </a:xfrm>
          <a:prstGeom prst="rect">
            <a:avLst/>
          </a:prstGeom>
          <a:noFill/>
        </p:spPr>
        <p:txBody>
          <a:bodyPr wrap="square" lIns="0" tIns="0" rIns="0" bIns="0" anchor="t">
            <a:spAutoFit/>
          </a:bodyPr>
          <a:lstStyle/>
          <a:p>
            <a:pPr algn="l"/>
            <a:r>
              <a:rPr sz="3600" b="1" i="0">
                <a:solidFill>
                  <a:srgbClr val="A100FF"/>
                </a:solidFill>
                <a:latin typeface="Arial"/>
              </a:rPr>
              <a:t>03</a:t>
            </a:r>
          </a:p>
        </p:txBody>
      </p:sp>
      <p:sp>
        <p:nvSpPr>
          <p:cNvPr id="16" name="TextBox 15"/>
          <p:cNvSpPr txBox="1"/>
          <p:nvPr/>
        </p:nvSpPr>
        <p:spPr>
          <a:xfrm>
            <a:off x="5352166" y="2926080"/>
            <a:ext cx="1487363" cy="457200"/>
          </a:xfrm>
          <a:prstGeom prst="rect">
            <a:avLst/>
          </a:prstGeom>
          <a:noFill/>
        </p:spPr>
        <p:txBody>
          <a:bodyPr wrap="square" lIns="0" tIns="0" rIns="0" bIns="0" anchor="t">
            <a:spAutoFit/>
          </a:bodyPr>
          <a:lstStyle/>
          <a:p>
            <a:pPr algn="l"/>
            <a:r>
              <a:rPr sz="2200" b="1" i="0">
                <a:solidFill>
                  <a:srgbClr val="000000"/>
                </a:solidFill>
                <a:latin typeface="Arial"/>
              </a:rPr>
              <a:t>How</a:t>
            </a:r>
          </a:p>
        </p:txBody>
      </p:sp>
      <p:sp>
        <p:nvSpPr>
          <p:cNvPr id="17" name="TextBox 16"/>
          <p:cNvSpPr txBox="1"/>
          <p:nvPr/>
        </p:nvSpPr>
        <p:spPr>
          <a:xfrm>
            <a:off x="5352166" y="3474720"/>
            <a:ext cx="1487363" cy="1280160"/>
          </a:xfrm>
          <a:prstGeom prst="rect">
            <a:avLst/>
          </a:prstGeom>
          <a:noFill/>
        </p:spPr>
        <p:txBody>
          <a:bodyPr wrap="square" lIns="0" tIns="0" rIns="0" bIns="0" anchor="t">
            <a:spAutoFit/>
          </a:bodyPr>
          <a:lstStyle/>
          <a:p>
            <a:pPr algn="l"/>
            <a:r>
              <a:rPr sz="1500" b="0" i="0">
                <a:solidFill>
                  <a:srgbClr val="3C3C3C"/>
                </a:solidFill>
                <a:latin typeface="Arial"/>
              </a:rPr>
              <a:t>Architecture, tools and graph model</a:t>
            </a:r>
          </a:p>
        </p:txBody>
      </p:sp>
      <p:sp>
        <p:nvSpPr>
          <p:cNvPr id="18" name="Rounded Rectangle 17"/>
          <p:cNvSpPr/>
          <p:nvPr/>
        </p:nvSpPr>
        <p:spPr>
          <a:xfrm>
            <a:off x="7342449" y="1828800"/>
            <a:ext cx="2036003" cy="31089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616769" y="2103120"/>
            <a:ext cx="1487363" cy="640080"/>
          </a:xfrm>
          <a:prstGeom prst="rect">
            <a:avLst/>
          </a:prstGeom>
          <a:noFill/>
        </p:spPr>
        <p:txBody>
          <a:bodyPr wrap="square" lIns="0" tIns="0" rIns="0" bIns="0" anchor="t">
            <a:spAutoFit/>
          </a:bodyPr>
          <a:lstStyle/>
          <a:p>
            <a:pPr algn="l"/>
            <a:r>
              <a:rPr sz="3600" b="1" i="0">
                <a:solidFill>
                  <a:srgbClr val="A100FF"/>
                </a:solidFill>
                <a:latin typeface="Arial"/>
              </a:rPr>
              <a:t>04</a:t>
            </a:r>
          </a:p>
        </p:txBody>
      </p:sp>
      <p:sp>
        <p:nvSpPr>
          <p:cNvPr id="20" name="TextBox 19"/>
          <p:cNvSpPr txBox="1"/>
          <p:nvPr/>
        </p:nvSpPr>
        <p:spPr>
          <a:xfrm>
            <a:off x="7616769" y="2926080"/>
            <a:ext cx="1487363" cy="457200"/>
          </a:xfrm>
          <a:prstGeom prst="rect">
            <a:avLst/>
          </a:prstGeom>
          <a:noFill/>
        </p:spPr>
        <p:txBody>
          <a:bodyPr wrap="square" lIns="0" tIns="0" rIns="0" bIns="0" anchor="t">
            <a:spAutoFit/>
          </a:bodyPr>
          <a:lstStyle/>
          <a:p>
            <a:pPr algn="l"/>
            <a:r>
              <a:rPr sz="2200" b="1" i="0">
                <a:solidFill>
                  <a:srgbClr val="000000"/>
                </a:solidFill>
                <a:latin typeface="Arial"/>
              </a:rPr>
              <a:t>Plan</a:t>
            </a:r>
          </a:p>
        </p:txBody>
      </p:sp>
      <p:sp>
        <p:nvSpPr>
          <p:cNvPr id="21" name="TextBox 20"/>
          <p:cNvSpPr txBox="1"/>
          <p:nvPr/>
        </p:nvSpPr>
        <p:spPr>
          <a:xfrm>
            <a:off x="7616769" y="3474720"/>
            <a:ext cx="1487363" cy="1280160"/>
          </a:xfrm>
          <a:prstGeom prst="rect">
            <a:avLst/>
          </a:prstGeom>
          <a:noFill/>
        </p:spPr>
        <p:txBody>
          <a:bodyPr wrap="square" lIns="0" tIns="0" rIns="0" bIns="0" anchor="t">
            <a:spAutoFit/>
          </a:bodyPr>
          <a:lstStyle/>
          <a:p>
            <a:pPr algn="l"/>
            <a:r>
              <a:rPr sz="1500" b="0" i="0">
                <a:solidFill>
                  <a:srgbClr val="3C3C3C"/>
                </a:solidFill>
                <a:latin typeface="Arial"/>
              </a:rPr>
              <a:t>10 weeks, deliverables, success</a:t>
            </a:r>
          </a:p>
        </p:txBody>
      </p:sp>
      <p:sp>
        <p:nvSpPr>
          <p:cNvPr id="22" name="Rounded Rectangle 21"/>
          <p:cNvSpPr/>
          <p:nvPr/>
        </p:nvSpPr>
        <p:spPr>
          <a:xfrm>
            <a:off x="9607052" y="1828800"/>
            <a:ext cx="2036003" cy="31089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881372" y="2103120"/>
            <a:ext cx="1487363" cy="640080"/>
          </a:xfrm>
          <a:prstGeom prst="rect">
            <a:avLst/>
          </a:prstGeom>
          <a:noFill/>
        </p:spPr>
        <p:txBody>
          <a:bodyPr wrap="square" lIns="0" tIns="0" rIns="0" bIns="0" anchor="t">
            <a:spAutoFit/>
          </a:bodyPr>
          <a:lstStyle/>
          <a:p>
            <a:pPr algn="l"/>
            <a:r>
              <a:rPr sz="3600" b="1" i="0">
                <a:solidFill>
                  <a:srgbClr val="A100FF"/>
                </a:solidFill>
                <a:latin typeface="Arial"/>
              </a:rPr>
              <a:t>05</a:t>
            </a:r>
          </a:p>
        </p:txBody>
      </p:sp>
      <p:sp>
        <p:nvSpPr>
          <p:cNvPr id="24" name="TextBox 23"/>
          <p:cNvSpPr txBox="1"/>
          <p:nvPr/>
        </p:nvSpPr>
        <p:spPr>
          <a:xfrm>
            <a:off x="9881372" y="2926080"/>
            <a:ext cx="1487363" cy="457200"/>
          </a:xfrm>
          <a:prstGeom prst="rect">
            <a:avLst/>
          </a:prstGeom>
          <a:noFill/>
        </p:spPr>
        <p:txBody>
          <a:bodyPr wrap="square" lIns="0" tIns="0" rIns="0" bIns="0" anchor="t">
            <a:spAutoFit/>
          </a:bodyPr>
          <a:lstStyle/>
          <a:p>
            <a:pPr algn="l"/>
            <a:r>
              <a:rPr sz="2200" b="1" i="0">
                <a:solidFill>
                  <a:srgbClr val="000000"/>
                </a:solidFill>
                <a:latin typeface="Arial"/>
              </a:rPr>
              <a:t>Kickoff</a:t>
            </a:r>
          </a:p>
        </p:txBody>
      </p:sp>
      <p:sp>
        <p:nvSpPr>
          <p:cNvPr id="25" name="TextBox 24"/>
          <p:cNvSpPr txBox="1"/>
          <p:nvPr/>
        </p:nvSpPr>
        <p:spPr>
          <a:xfrm>
            <a:off x="9881372" y="3474720"/>
            <a:ext cx="1487363" cy="1280160"/>
          </a:xfrm>
          <a:prstGeom prst="rect">
            <a:avLst/>
          </a:prstGeom>
          <a:noFill/>
        </p:spPr>
        <p:txBody>
          <a:bodyPr wrap="square" lIns="0" tIns="0" rIns="0" bIns="0" anchor="t">
            <a:spAutoFit/>
          </a:bodyPr>
          <a:lstStyle/>
          <a:p>
            <a:pPr algn="l"/>
            <a:r>
              <a:rPr sz="1500" b="0" i="0">
                <a:solidFill>
                  <a:srgbClr val="3C3C3C"/>
                </a:solidFill>
                <a:latin typeface="Arial"/>
              </a:rPr>
              <a:t>How we work and your first week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100FF"/>
        </a:solidFill>
        <a:effectLst/>
      </p:bgPr>
    </p:bg>
    <p:spTree>
      <p:nvGrpSpPr>
        <p:cNvPr id="1" name=""/>
        <p:cNvGrpSpPr/>
        <p:nvPr/>
      </p:nvGrpSpPr>
      <p:grpSpPr>
        <a:xfrm>
          <a:off x="0" y="0"/>
          <a:ext cx="0" cy="0"/>
          <a:chOff x="0" y="0"/>
          <a:chExt cx="0" cy="0"/>
        </a:xfrm>
      </p:grpSpPr>
      <p:sp>
        <p:nvSpPr>
          <p:cNvPr id="2" name="TextBox 1"/>
          <p:cNvSpPr txBox="1"/>
          <p:nvPr/>
        </p:nvSpPr>
        <p:spPr>
          <a:xfrm>
            <a:off x="731520" y="1371600"/>
            <a:ext cx="10058400" cy="365760"/>
          </a:xfrm>
          <a:prstGeom prst="rect">
            <a:avLst/>
          </a:prstGeom>
          <a:noFill/>
        </p:spPr>
        <p:txBody>
          <a:bodyPr wrap="square" lIns="0" tIns="0" rIns="0" bIns="0" anchor="t">
            <a:spAutoFit/>
          </a:bodyPr>
          <a:lstStyle/>
          <a:p>
            <a:pPr algn="l"/>
            <a:r>
              <a:rPr sz="1400" b="1" i="0" spc="300">
                <a:solidFill>
                  <a:srgbClr val="FFFFFF"/>
                </a:solidFill>
                <a:latin typeface="Arial"/>
              </a:rPr>
              <a:t>&gt; 01 · OUR GOAL</a:t>
            </a:r>
          </a:p>
        </p:txBody>
      </p:sp>
      <p:sp>
        <p:nvSpPr>
          <p:cNvPr id="3" name="TextBox 2"/>
          <p:cNvSpPr txBox="1"/>
          <p:nvPr/>
        </p:nvSpPr>
        <p:spPr>
          <a:xfrm>
            <a:off x="731520" y="2011680"/>
            <a:ext cx="10698480" cy="3291840"/>
          </a:xfrm>
          <a:prstGeom prst="rect">
            <a:avLst/>
          </a:prstGeom>
          <a:noFill/>
        </p:spPr>
        <p:txBody>
          <a:bodyPr wrap="square" lIns="0" tIns="0" rIns="0" bIns="0" anchor="t">
            <a:spAutoFit/>
          </a:bodyPr>
          <a:lstStyle/>
          <a:p>
            <a:pPr algn="l">
              <a:lnSpc>
                <a:spcPct val="110000"/>
              </a:lnSpc>
            </a:pPr>
            <a:r>
              <a:rPr sz="4000" b="1" i="0">
                <a:solidFill>
                  <a:srgbClr val="FFFFFF"/>
                </a:solidFill>
                <a:latin typeface="Arial"/>
              </a:rPr>
              <a:t>Build an AI agent that answers employee questions from company documents, and prove that a knowledge graph makes it better.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01 · WHY</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Why plain RAG isn't enough</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274320"/>
          </a:xfrm>
          <a:prstGeom prst="rect">
            <a:avLst/>
          </a:prstGeom>
          <a:noFill/>
        </p:spPr>
        <p:txBody>
          <a:bodyPr wrap="square" lIns="0" tIns="0" rIns="0" bIns="0" anchor="t">
            <a:spAutoFit/>
          </a:bodyPr>
          <a:lstStyle/>
          <a:p>
            <a:pPr algn="r"/>
            <a:r>
              <a:rPr sz="1000" b="0" i="0">
                <a:solidFill>
                  <a:srgbClr val="666666"/>
                </a:solidFill>
                <a:latin typeface="Arial"/>
              </a:rPr>
              <a:t>04</a:t>
            </a:r>
          </a:p>
        </p:txBody>
      </p:sp>
      <p:sp>
        <p:nvSpPr>
          <p:cNvPr id="6" name="Rounded Rectangle 5"/>
          <p:cNvSpPr/>
          <p:nvPr/>
        </p:nvSpPr>
        <p:spPr>
          <a:xfrm>
            <a:off x="548640" y="1737360"/>
            <a:ext cx="5364327" cy="31089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14400" y="2057400"/>
            <a:ext cx="502920" cy="502920"/>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Segoe UI Symbol"/>
              </a:rPr>
              <a:t>✓</a:t>
            </a:r>
          </a:p>
        </p:txBody>
      </p:sp>
      <p:sp>
        <p:nvSpPr>
          <p:cNvPr id="8" name="TextBox 7"/>
          <p:cNvSpPr txBox="1"/>
          <p:nvPr/>
        </p:nvSpPr>
        <p:spPr>
          <a:xfrm>
            <a:off x="1600200" y="2103120"/>
            <a:ext cx="3992727" cy="457200"/>
          </a:xfrm>
          <a:prstGeom prst="rect">
            <a:avLst/>
          </a:prstGeom>
          <a:noFill/>
        </p:spPr>
        <p:txBody>
          <a:bodyPr wrap="square" lIns="0" tIns="0" rIns="0" bIns="0" anchor="t">
            <a:spAutoFit/>
          </a:bodyPr>
          <a:lstStyle/>
          <a:p>
            <a:pPr algn="l"/>
            <a:r>
              <a:rPr sz="2200" b="1" i="0">
                <a:solidFill>
                  <a:srgbClr val="000000"/>
                </a:solidFill>
                <a:latin typeface="Arial"/>
              </a:rPr>
              <a:t>Plain RAG is good at</a:t>
            </a:r>
          </a:p>
        </p:txBody>
      </p:sp>
      <p:sp>
        <p:nvSpPr>
          <p:cNvPr id="9" name="TextBox 8"/>
          <p:cNvSpPr txBox="1"/>
          <p:nvPr/>
        </p:nvSpPr>
        <p:spPr>
          <a:xfrm>
            <a:off x="914400" y="2880360"/>
            <a:ext cx="4632807" cy="1828800"/>
          </a:xfrm>
          <a:prstGeom prst="rect">
            <a:avLst/>
          </a:prstGeom>
          <a:noFill/>
        </p:spPr>
        <p:txBody>
          <a:bodyPr wrap="square" lIns="0" tIns="0" rIns="0" bIns="0" anchor="t">
            <a:spAutoFit/>
          </a:bodyPr>
          <a:lstStyle/>
          <a:p>
            <a:pPr marL="256032" indent="-256032" algn="l">
              <a:spcAft>
                <a:spcPts val="800"/>
              </a:spcAft>
              <a:buFont typeface="Arial"/>
              <a:buChar char="•"/>
            </a:pPr>
            <a:r>
              <a:rPr sz="1800" b="0" i="0">
                <a:solidFill>
                  <a:srgbClr val="3C3C3C"/>
                </a:solidFill>
                <a:latin typeface="Arial"/>
              </a:rPr>
              <a:t>Simple facts from one passage</a:t>
            </a:r>
          </a:p>
          <a:p>
            <a:pPr marL="256032" indent="-256032" algn="l">
              <a:spcAft>
                <a:spcPts val="800"/>
              </a:spcAft>
              <a:buFont typeface="Arial"/>
              <a:buChar char="•"/>
            </a:pPr>
            <a:r>
              <a:rPr sz="1800" b="0" i="0">
                <a:solidFill>
                  <a:srgbClr val="3C3C3C"/>
                </a:solidFill>
                <a:latin typeface="Arial"/>
              </a:rPr>
              <a:t>“What is the Health Plus deductible?”</a:t>
            </a:r>
          </a:p>
        </p:txBody>
      </p:sp>
      <p:sp>
        <p:nvSpPr>
          <p:cNvPr id="10" name="Rounded Rectangle 9"/>
          <p:cNvSpPr/>
          <p:nvPr/>
        </p:nvSpPr>
        <p:spPr>
          <a:xfrm>
            <a:off x="6278727" y="1737360"/>
            <a:ext cx="5364327" cy="3108960"/>
          </a:xfrm>
          <a:prstGeom prst="roundRect">
            <a:avLst>
              <a:gd name="adj" fmla="val 8000"/>
            </a:avLst>
          </a:prstGeom>
          <a:solidFill>
            <a:srgbClr val="F3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644487" y="2057400"/>
            <a:ext cx="502920" cy="50292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Segoe UI Symbol"/>
              </a:rPr>
              <a:t>!</a:t>
            </a:r>
          </a:p>
        </p:txBody>
      </p:sp>
      <p:sp>
        <p:nvSpPr>
          <p:cNvPr id="12" name="TextBox 11"/>
          <p:cNvSpPr txBox="1"/>
          <p:nvPr/>
        </p:nvSpPr>
        <p:spPr>
          <a:xfrm>
            <a:off x="7330287" y="2103120"/>
            <a:ext cx="3992727" cy="457200"/>
          </a:xfrm>
          <a:prstGeom prst="rect">
            <a:avLst/>
          </a:prstGeom>
          <a:noFill/>
        </p:spPr>
        <p:txBody>
          <a:bodyPr wrap="square" lIns="0" tIns="0" rIns="0" bIns="0" anchor="t">
            <a:spAutoFit/>
          </a:bodyPr>
          <a:lstStyle/>
          <a:p>
            <a:pPr algn="l"/>
            <a:r>
              <a:rPr sz="2200" b="1" i="0">
                <a:solidFill>
                  <a:srgbClr val="000000"/>
                </a:solidFill>
                <a:latin typeface="Arial"/>
              </a:rPr>
              <a:t>Plain RAG struggles with</a:t>
            </a:r>
          </a:p>
        </p:txBody>
      </p:sp>
      <p:sp>
        <p:nvSpPr>
          <p:cNvPr id="13" name="TextBox 12"/>
          <p:cNvSpPr txBox="1"/>
          <p:nvPr/>
        </p:nvSpPr>
        <p:spPr>
          <a:xfrm>
            <a:off x="6644487" y="2880360"/>
            <a:ext cx="4632807" cy="1828800"/>
          </a:xfrm>
          <a:prstGeom prst="rect">
            <a:avLst/>
          </a:prstGeom>
          <a:noFill/>
        </p:spPr>
        <p:txBody>
          <a:bodyPr wrap="square" lIns="0" tIns="0" rIns="0" bIns="0" anchor="t">
            <a:spAutoFit/>
          </a:bodyPr>
          <a:lstStyle/>
          <a:p>
            <a:pPr marL="256032" indent="-256032" algn="l">
              <a:spcAft>
                <a:spcPts val="800"/>
              </a:spcAft>
              <a:buFont typeface="Arial"/>
              <a:buChar char="•"/>
            </a:pPr>
            <a:r>
              <a:rPr sz="1800" b="0" i="0">
                <a:solidFill>
                  <a:srgbClr val="3C3C3C"/>
                </a:solidFill>
                <a:latin typeface="Arial"/>
              </a:rPr>
              <a:t>Comparisons across documents</a:t>
            </a:r>
          </a:p>
          <a:p>
            <a:pPr marL="256032" indent="-256032" algn="l">
              <a:spcAft>
                <a:spcPts val="800"/>
              </a:spcAft>
              <a:buFont typeface="Arial"/>
              <a:buChar char="•"/>
            </a:pPr>
            <a:r>
              <a:rPr sz="1800" b="0" i="0">
                <a:solidFill>
                  <a:srgbClr val="3C3C3C"/>
                </a:solidFill>
                <a:latin typeface="Arial"/>
              </a:rPr>
              <a:t>“List all…” and counting questions</a:t>
            </a:r>
          </a:p>
          <a:p>
            <a:pPr marL="256032" indent="-256032" algn="l">
              <a:spcAft>
                <a:spcPts val="800"/>
              </a:spcAft>
              <a:buFont typeface="Arial"/>
              <a:buChar char="•"/>
            </a:pPr>
            <a:r>
              <a:rPr sz="1800" b="0" i="0">
                <a:solidFill>
                  <a:srgbClr val="3C3C3C"/>
                </a:solidFill>
                <a:latin typeface="Arial"/>
              </a:rPr>
              <a:t>Answers that follow relationships</a:t>
            </a:r>
          </a:p>
        </p:txBody>
      </p:sp>
      <p:sp>
        <p:nvSpPr>
          <p:cNvPr id="14" name="TextBox 13"/>
          <p:cNvSpPr txBox="1"/>
          <p:nvPr/>
        </p:nvSpPr>
        <p:spPr>
          <a:xfrm>
            <a:off x="548640" y="5166360"/>
            <a:ext cx="11094415" cy="548640"/>
          </a:xfrm>
          <a:prstGeom prst="rect">
            <a:avLst/>
          </a:prstGeom>
          <a:noFill/>
        </p:spPr>
        <p:txBody>
          <a:bodyPr wrap="square" lIns="0" tIns="0" rIns="0" bIns="0" anchor="t">
            <a:spAutoFit/>
          </a:bodyPr>
          <a:lstStyle/>
          <a:p>
            <a:pPr algn="l"/>
            <a:r>
              <a:rPr sz="2200" b="1" i="0">
                <a:solidFill>
                  <a:srgbClr val="000000"/>
                </a:solidFill>
                <a:latin typeface="Arial"/>
              </a:rPr>
              <a:t>Plain RAG finds similar text. It doesn't know how facts connect.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01 · WHY</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What GraphRAG adds</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274320"/>
          </a:xfrm>
          <a:prstGeom prst="rect">
            <a:avLst/>
          </a:prstGeom>
          <a:noFill/>
        </p:spPr>
        <p:txBody>
          <a:bodyPr wrap="square" lIns="0" tIns="0" rIns="0" bIns="0" anchor="t">
            <a:spAutoFit/>
          </a:bodyPr>
          <a:lstStyle/>
          <a:p>
            <a:pPr algn="r"/>
            <a:r>
              <a:rPr sz="1000" b="0" i="0">
                <a:solidFill>
                  <a:srgbClr val="666666"/>
                </a:solidFill>
                <a:latin typeface="Arial"/>
              </a:rPr>
              <a:t>05</a:t>
            </a:r>
          </a:p>
        </p:txBody>
      </p:sp>
      <p:sp>
        <p:nvSpPr>
          <p:cNvPr id="6" name="Oval 5"/>
          <p:cNvSpPr/>
          <p:nvPr/>
        </p:nvSpPr>
        <p:spPr>
          <a:xfrm>
            <a:off x="548640" y="1783080"/>
            <a:ext cx="384048" cy="38404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1</a:t>
            </a:r>
          </a:p>
        </p:txBody>
      </p:sp>
      <p:sp>
        <p:nvSpPr>
          <p:cNvPr id="7" name="TextBox 6"/>
          <p:cNvSpPr txBox="1"/>
          <p:nvPr/>
        </p:nvSpPr>
        <p:spPr>
          <a:xfrm>
            <a:off x="1115568" y="1828800"/>
            <a:ext cx="4937760" cy="365760"/>
          </a:xfrm>
          <a:prstGeom prst="rect">
            <a:avLst/>
          </a:prstGeom>
          <a:noFill/>
        </p:spPr>
        <p:txBody>
          <a:bodyPr wrap="square" lIns="0" tIns="0" rIns="0" bIns="0" anchor="t">
            <a:spAutoFit/>
          </a:bodyPr>
          <a:lstStyle/>
          <a:p>
            <a:pPr algn="l"/>
            <a:r>
              <a:rPr sz="1700" b="0" i="0">
                <a:solidFill>
                  <a:srgbClr val="3C3C3C"/>
                </a:solidFill>
                <a:latin typeface="Arial"/>
              </a:rPr>
              <a:t>The LLM reads each document</a:t>
            </a:r>
          </a:p>
        </p:txBody>
      </p:sp>
      <p:sp>
        <p:nvSpPr>
          <p:cNvPr id="8" name="Oval 7"/>
          <p:cNvSpPr/>
          <p:nvPr/>
        </p:nvSpPr>
        <p:spPr>
          <a:xfrm>
            <a:off x="548640" y="2350008"/>
            <a:ext cx="384048" cy="38404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2</a:t>
            </a:r>
          </a:p>
        </p:txBody>
      </p:sp>
      <p:sp>
        <p:nvSpPr>
          <p:cNvPr id="9" name="TextBox 8"/>
          <p:cNvSpPr txBox="1"/>
          <p:nvPr/>
        </p:nvSpPr>
        <p:spPr>
          <a:xfrm>
            <a:off x="1115568" y="2395727"/>
            <a:ext cx="4937760" cy="365760"/>
          </a:xfrm>
          <a:prstGeom prst="rect">
            <a:avLst/>
          </a:prstGeom>
          <a:noFill/>
        </p:spPr>
        <p:txBody>
          <a:bodyPr wrap="square" lIns="0" tIns="0" rIns="0" bIns="0" anchor="t">
            <a:spAutoFit/>
          </a:bodyPr>
          <a:lstStyle/>
          <a:p>
            <a:pPr algn="l"/>
            <a:r>
              <a:rPr sz="1700" b="0" i="0">
                <a:solidFill>
                  <a:srgbClr val="3C3C3C"/>
                </a:solidFill>
                <a:latin typeface="Arial"/>
              </a:rPr>
              <a:t>It pulls out entities: plans, roles, skills…</a:t>
            </a:r>
          </a:p>
        </p:txBody>
      </p:sp>
      <p:sp>
        <p:nvSpPr>
          <p:cNvPr id="10" name="Oval 9"/>
          <p:cNvSpPr/>
          <p:nvPr/>
        </p:nvSpPr>
        <p:spPr>
          <a:xfrm>
            <a:off x="548640" y="2916936"/>
            <a:ext cx="384048" cy="38404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3</a:t>
            </a:r>
          </a:p>
        </p:txBody>
      </p:sp>
      <p:sp>
        <p:nvSpPr>
          <p:cNvPr id="11" name="TextBox 10"/>
          <p:cNvSpPr txBox="1"/>
          <p:nvPr/>
        </p:nvSpPr>
        <p:spPr>
          <a:xfrm>
            <a:off x="1115568" y="2962656"/>
            <a:ext cx="4937760" cy="365760"/>
          </a:xfrm>
          <a:prstGeom prst="rect">
            <a:avLst/>
          </a:prstGeom>
          <a:noFill/>
        </p:spPr>
        <p:txBody>
          <a:bodyPr wrap="square" lIns="0" tIns="0" rIns="0" bIns="0" anchor="t">
            <a:spAutoFit/>
          </a:bodyPr>
          <a:lstStyle/>
          <a:p>
            <a:pPr algn="l"/>
            <a:r>
              <a:rPr sz="1700" b="0" i="0">
                <a:solidFill>
                  <a:srgbClr val="3C3C3C"/>
                </a:solidFill>
                <a:latin typeface="Arial"/>
              </a:rPr>
              <a:t>It links them with relationships</a:t>
            </a:r>
          </a:p>
        </p:txBody>
      </p:sp>
      <p:sp>
        <p:nvSpPr>
          <p:cNvPr id="12" name="Oval 11"/>
          <p:cNvSpPr/>
          <p:nvPr/>
        </p:nvSpPr>
        <p:spPr>
          <a:xfrm>
            <a:off x="548640" y="3483863"/>
            <a:ext cx="384048" cy="384048"/>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4</a:t>
            </a:r>
          </a:p>
        </p:txBody>
      </p:sp>
      <p:sp>
        <p:nvSpPr>
          <p:cNvPr id="13" name="TextBox 12"/>
          <p:cNvSpPr txBox="1"/>
          <p:nvPr/>
        </p:nvSpPr>
        <p:spPr>
          <a:xfrm>
            <a:off x="1115568" y="3529583"/>
            <a:ext cx="4937760" cy="365760"/>
          </a:xfrm>
          <a:prstGeom prst="rect">
            <a:avLst/>
          </a:prstGeom>
          <a:noFill/>
        </p:spPr>
        <p:txBody>
          <a:bodyPr wrap="square" lIns="0" tIns="0" rIns="0" bIns="0" anchor="t">
            <a:spAutoFit/>
          </a:bodyPr>
          <a:lstStyle/>
          <a:p>
            <a:pPr algn="l"/>
            <a:r>
              <a:rPr sz="1700" b="0" i="0">
                <a:solidFill>
                  <a:srgbClr val="3C3C3C"/>
                </a:solidFill>
                <a:latin typeface="Arial"/>
              </a:rPr>
              <a:t>The agent follows those links to answer</a:t>
            </a:r>
          </a:p>
        </p:txBody>
      </p:sp>
      <p:sp>
        <p:nvSpPr>
          <p:cNvPr id="14" name="Rounded Rectangle 13"/>
          <p:cNvSpPr/>
          <p:nvPr/>
        </p:nvSpPr>
        <p:spPr>
          <a:xfrm>
            <a:off x="548640" y="4206240"/>
            <a:ext cx="5394960" cy="1783080"/>
          </a:xfrm>
          <a:prstGeom prst="roundRect">
            <a:avLst>
              <a:gd name="adj" fmla="val 8000"/>
            </a:avLst>
          </a:prstGeom>
          <a:solidFill>
            <a:srgbClr val="F3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68680" y="4434840"/>
            <a:ext cx="4754880" cy="274320"/>
          </a:xfrm>
          <a:prstGeom prst="rect">
            <a:avLst/>
          </a:prstGeom>
          <a:noFill/>
        </p:spPr>
        <p:txBody>
          <a:bodyPr wrap="square" lIns="0" tIns="0" rIns="0" bIns="0" anchor="t">
            <a:spAutoFit/>
          </a:bodyPr>
          <a:lstStyle/>
          <a:p>
            <a:pPr algn="l"/>
            <a:r>
              <a:rPr sz="1100" b="1" i="0" spc="200">
                <a:solidFill>
                  <a:srgbClr val="A100FF"/>
                </a:solidFill>
                <a:latin typeface="Arial"/>
              </a:rPr>
              <a:t>EXAMPLE QUESTION</a:t>
            </a:r>
          </a:p>
        </p:txBody>
      </p:sp>
      <p:sp>
        <p:nvSpPr>
          <p:cNvPr id="16" name="TextBox 15"/>
          <p:cNvSpPr txBox="1"/>
          <p:nvPr/>
        </p:nvSpPr>
        <p:spPr>
          <a:xfrm>
            <a:off x="868680" y="4754880"/>
            <a:ext cx="4754880" cy="731520"/>
          </a:xfrm>
          <a:prstGeom prst="rect">
            <a:avLst/>
          </a:prstGeom>
          <a:noFill/>
        </p:spPr>
        <p:txBody>
          <a:bodyPr wrap="square" lIns="0" tIns="0" rIns="0" bIns="0" anchor="t">
            <a:spAutoFit/>
          </a:bodyPr>
          <a:lstStyle/>
          <a:p>
            <a:pPr algn="l"/>
            <a:r>
              <a:rPr sz="1800" b="1" i="0">
                <a:solidFill>
                  <a:srgbClr val="000000"/>
                </a:solidFill>
                <a:latin typeface="Arial"/>
              </a:rPr>
              <a:t>What does Health Plus cover that Standard doesn't?</a:t>
            </a:r>
          </a:p>
        </p:txBody>
      </p:sp>
      <p:sp>
        <p:nvSpPr>
          <p:cNvPr id="17" name="TextBox 16"/>
          <p:cNvSpPr txBox="1"/>
          <p:nvPr/>
        </p:nvSpPr>
        <p:spPr>
          <a:xfrm>
            <a:off x="868680" y="5440680"/>
            <a:ext cx="4754880" cy="365760"/>
          </a:xfrm>
          <a:prstGeom prst="rect">
            <a:avLst/>
          </a:prstGeom>
          <a:noFill/>
        </p:spPr>
        <p:txBody>
          <a:bodyPr wrap="square" lIns="0" tIns="0" rIns="0" bIns="0" anchor="t">
            <a:spAutoFit/>
          </a:bodyPr>
          <a:lstStyle/>
          <a:p>
            <a:pPr algn="l"/>
            <a:r>
              <a:rPr sz="1400" b="0" i="0">
                <a:solidFill>
                  <a:srgbClr val="3C3C3C"/>
                </a:solidFill>
                <a:latin typeface="Arial"/>
              </a:rPr>
              <a:t>Follow COVERS from both plans, then compare.</a:t>
            </a:r>
          </a:p>
        </p:txBody>
      </p:sp>
      <p:sp>
        <p:nvSpPr>
          <p:cNvPr id="18" name="Rounded Rectangle 17"/>
          <p:cNvSpPr/>
          <p:nvPr/>
        </p:nvSpPr>
        <p:spPr>
          <a:xfrm>
            <a:off x="6675120" y="1920240"/>
            <a:ext cx="2103120" cy="594360"/>
          </a:xfrm>
          <a:prstGeom prst="roundRect">
            <a:avLst>
              <a:gd name="adj" fmla="val 50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Health Plus</a:t>
            </a:r>
          </a:p>
        </p:txBody>
      </p:sp>
      <p:sp>
        <p:nvSpPr>
          <p:cNvPr id="19" name="Rounded Rectangle 18"/>
          <p:cNvSpPr/>
          <p:nvPr/>
        </p:nvSpPr>
        <p:spPr>
          <a:xfrm>
            <a:off x="6675120" y="4297680"/>
            <a:ext cx="2103120" cy="594360"/>
          </a:xfrm>
          <a:prstGeom prst="roundRect">
            <a:avLst>
              <a:gd name="adj" fmla="val 50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Standard</a:t>
            </a:r>
          </a:p>
        </p:txBody>
      </p:sp>
      <p:sp>
        <p:nvSpPr>
          <p:cNvPr id="20" name="Rounded Rectangle 19"/>
          <p:cNvSpPr/>
          <p:nvPr/>
        </p:nvSpPr>
        <p:spPr>
          <a:xfrm>
            <a:off x="9418320" y="1920240"/>
            <a:ext cx="2103120" cy="594360"/>
          </a:xfrm>
          <a:prstGeom prst="roundRect">
            <a:avLst>
              <a:gd name="adj" fmla="val 50000"/>
            </a:avLst>
          </a:prstGeom>
          <a:solidFill>
            <a:srgbClr val="FFFFFF"/>
          </a:solidFill>
          <a:ln w="254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00000"/>
                </a:solidFill>
                <a:latin typeface="Arial"/>
              </a:rPr>
              <a:t>Vision</a:t>
            </a:r>
          </a:p>
        </p:txBody>
      </p:sp>
      <p:sp>
        <p:nvSpPr>
          <p:cNvPr id="21" name="Rounded Rectangle 20"/>
          <p:cNvSpPr/>
          <p:nvPr/>
        </p:nvSpPr>
        <p:spPr>
          <a:xfrm>
            <a:off x="9418320" y="3108960"/>
            <a:ext cx="2103120" cy="594360"/>
          </a:xfrm>
          <a:prstGeom prst="roundRect">
            <a:avLst>
              <a:gd name="adj" fmla="val 50000"/>
            </a:avLst>
          </a:prstGeom>
          <a:solidFill>
            <a:srgbClr val="FFFFFF"/>
          </a:solidFill>
          <a:ln w="254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000000"/>
                </a:solidFill>
                <a:latin typeface="Arial"/>
              </a:rPr>
              <a:t>Dental</a:t>
            </a:r>
          </a:p>
        </p:txBody>
      </p:sp>
      <p:cxnSp>
        <p:nvCxnSpPr>
          <p:cNvPr id="22" name="Connector 21"/>
          <p:cNvCxnSpPr/>
          <p:nvPr/>
        </p:nvCxnSpPr>
        <p:spPr>
          <a:xfrm>
            <a:off x="8778240" y="2217420"/>
            <a:ext cx="621792"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778240" y="2217420"/>
            <a:ext cx="621792" cy="118872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8778240" y="3406140"/>
            <a:ext cx="621792" cy="118872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675120" y="5257800"/>
            <a:ext cx="4937760" cy="365760"/>
          </a:xfrm>
          <a:prstGeom prst="rect">
            <a:avLst/>
          </a:prstGeom>
          <a:noFill/>
        </p:spPr>
        <p:txBody>
          <a:bodyPr wrap="square" lIns="0" tIns="0" rIns="0" bIns="0" anchor="t">
            <a:spAutoFit/>
          </a:bodyPr>
          <a:lstStyle/>
          <a:p>
            <a:pPr algn="l"/>
            <a:r>
              <a:rPr sz="1200" b="0" i="0">
                <a:solidFill>
                  <a:srgbClr val="666666"/>
                </a:solidFill>
                <a:latin typeface="Arial"/>
              </a:rPr>
              <a:t>Illustrative example · arrows are COVERS relationships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02 · WHAT</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Use case: Zava's company assistant</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274320"/>
          </a:xfrm>
          <a:prstGeom prst="rect">
            <a:avLst/>
          </a:prstGeom>
          <a:noFill/>
        </p:spPr>
        <p:txBody>
          <a:bodyPr wrap="square" lIns="0" tIns="0" rIns="0" bIns="0" anchor="t">
            <a:spAutoFit/>
          </a:bodyPr>
          <a:lstStyle/>
          <a:p>
            <a:pPr algn="r"/>
            <a:r>
              <a:rPr sz="1000" b="0" i="0">
                <a:solidFill>
                  <a:srgbClr val="666666"/>
                </a:solidFill>
                <a:latin typeface="Arial"/>
              </a:rPr>
              <a:t>06</a:t>
            </a:r>
          </a:p>
        </p:txBody>
      </p:sp>
      <p:sp>
        <p:nvSpPr>
          <p:cNvPr id="6" name="TextBox 5"/>
          <p:cNvSpPr txBox="1"/>
          <p:nvPr/>
        </p:nvSpPr>
        <p:spPr>
          <a:xfrm>
            <a:off x="548640" y="1645920"/>
            <a:ext cx="11094415" cy="365760"/>
          </a:xfrm>
          <a:prstGeom prst="rect">
            <a:avLst/>
          </a:prstGeom>
          <a:noFill/>
        </p:spPr>
        <p:txBody>
          <a:bodyPr wrap="square" lIns="0" tIns="0" rIns="0" bIns="0" anchor="t">
            <a:spAutoFit/>
          </a:bodyPr>
          <a:lstStyle/>
          <a:p>
            <a:pPr algn="l"/>
            <a:r>
              <a:rPr sz="1800" b="1" i="0">
                <a:solidFill>
                  <a:srgbClr val="000000"/>
                </a:solidFill>
                <a:latin typeface="Arial"/>
              </a:rPr>
              <a:t>A fictional company · 7 documents · roles, policies and benefits · MIT license</a:t>
            </a:r>
          </a:p>
        </p:txBody>
      </p:sp>
      <p:graphicFrame>
        <p:nvGraphicFramePr>
          <p:cNvPr id="7" name="Table 6"/>
          <p:cNvGraphicFramePr>
            <a:graphicFrameLocks noGrp="1"/>
          </p:cNvGraphicFramePr>
          <p:nvPr/>
        </p:nvGraphicFramePr>
        <p:xfrm>
          <a:off x="548640" y="2194560"/>
          <a:ext cx="11094415" cy="2926080"/>
        </p:xfrm>
        <a:graphic>
          <a:graphicData uri="http://schemas.openxmlformats.org/drawingml/2006/table">
            <a:tbl>
              <a:tblPr firstRow="1">
                <a:tableStyleId>{5940675A-B579-460E-94D1-54222C63F5DA}</a:tableStyleId>
              </a:tblPr>
              <a:tblGrid>
                <a:gridCol w="5303520">
                  <a:extLst>
                    <a:ext uri="{9D8B030D-6E8A-4147-A177-3AD203B41FA5}">
                      <a16:colId xmlns:a16="http://schemas.microsoft.com/office/drawing/2014/main" val="20000"/>
                    </a:ext>
                  </a:extLst>
                </a:gridCol>
                <a:gridCol w="5790895">
                  <a:extLst>
                    <a:ext uri="{9D8B030D-6E8A-4147-A177-3AD203B41FA5}">
                      <a16:colId xmlns:a16="http://schemas.microsoft.com/office/drawing/2014/main" val="20001"/>
                    </a:ext>
                  </a:extLst>
                </a:gridCol>
              </a:tblGrid>
              <a:tr h="365760">
                <a:tc>
                  <a:txBody>
                    <a:bodyPr/>
                    <a:lstStyle/>
                    <a:p>
                      <a:r>
                        <a:rPr sz="1300" b="1">
                          <a:solidFill>
                            <a:srgbClr val="FFFFFF"/>
                          </a:solidFill>
                          <a:latin typeface="Arial"/>
                        </a:rPr>
                        <a:t>Document</a:t>
                      </a:r>
                    </a:p>
                  </a:txBody>
                  <a:tcPr marL="109728" marR="109728" marT="64008" marB="64008" anchor="ctr">
                    <a:solidFill>
                      <a:srgbClr val="000000"/>
                    </a:solidFill>
                  </a:tcPr>
                </a:tc>
                <a:tc>
                  <a:txBody>
                    <a:bodyPr/>
                    <a:lstStyle/>
                    <a:p>
                      <a:r>
                        <a:rPr sz="1300" b="1">
                          <a:solidFill>
                            <a:srgbClr val="FFFFFF"/>
                          </a:solidFill>
                          <a:latin typeface="Arial"/>
                        </a:rPr>
                        <a:t>Content</a:t>
                      </a:r>
                    </a:p>
                  </a:txBody>
                  <a:tcPr marL="109728" marR="109728" marT="64008" marB="64008" anchor="ctr">
                    <a:solidFill>
                      <a:srgbClr val="000000"/>
                    </a:solidFill>
                  </a:tcPr>
                </a:tc>
                <a:extLst>
                  <a:ext uri="{0D108BD9-81ED-4DB2-BD59-A6C34878D82A}">
                    <a16:rowId xmlns:a16="http://schemas.microsoft.com/office/drawing/2014/main" val="10000"/>
                  </a:ext>
                </a:extLst>
              </a:tr>
              <a:tr h="365760">
                <a:tc>
                  <a:txBody>
                    <a:bodyPr/>
                    <a:lstStyle/>
                    <a:p>
                      <a:r>
                        <a:rPr sz="1300" b="1">
                          <a:solidFill>
                            <a:srgbClr val="000000"/>
                          </a:solidFill>
                          <a:latin typeface="Courier New"/>
                        </a:rPr>
                        <a:t>Zava_Company_Overview.md</a:t>
                      </a:r>
                    </a:p>
                  </a:txBody>
                  <a:tcPr marL="109728" marR="109728" marT="64008" marB="64008" anchor="ctr">
                    <a:solidFill>
                      <a:srgbClr val="FFFFFF"/>
                    </a:solidFill>
                  </a:tcPr>
                </a:tc>
                <a:tc>
                  <a:txBody>
                    <a:bodyPr/>
                    <a:lstStyle/>
                    <a:p>
                      <a:r>
                        <a:rPr sz="1300" b="0">
                          <a:solidFill>
                            <a:srgbClr val="3C3C3C"/>
                          </a:solidFill>
                          <a:latin typeface="Arial"/>
                        </a:rPr>
                        <a:t>What the company is and does</a:t>
                      </a:r>
                    </a:p>
                  </a:txBody>
                  <a:tcPr marL="109728" marR="109728" marT="64008" marB="64008" anchor="ctr">
                    <a:solidFill>
                      <a:srgbClr val="FFFFFF"/>
                    </a:solidFill>
                  </a:tcPr>
                </a:tc>
                <a:extLst>
                  <a:ext uri="{0D108BD9-81ED-4DB2-BD59-A6C34878D82A}">
                    <a16:rowId xmlns:a16="http://schemas.microsoft.com/office/drawing/2014/main" val="10001"/>
                  </a:ext>
                </a:extLst>
              </a:tr>
              <a:tr h="365760">
                <a:tc>
                  <a:txBody>
                    <a:bodyPr/>
                    <a:lstStyle/>
                    <a:p>
                      <a:r>
                        <a:rPr sz="1300" b="1">
                          <a:solidFill>
                            <a:srgbClr val="000000"/>
                          </a:solidFill>
                          <a:latin typeface="Courier New"/>
                        </a:rPr>
                        <a:t>employee_handbook.pdf</a:t>
                      </a:r>
                    </a:p>
                  </a:txBody>
                  <a:tcPr marL="109728" marR="109728" marT="64008" marB="64008" anchor="ctr">
                    <a:solidFill>
                      <a:srgbClr val="F2F2F2"/>
                    </a:solidFill>
                  </a:tcPr>
                </a:tc>
                <a:tc>
                  <a:txBody>
                    <a:bodyPr/>
                    <a:lstStyle/>
                    <a:p>
                      <a:r>
                        <a:rPr sz="1300" b="0">
                          <a:solidFill>
                            <a:srgbClr val="3C3C3C"/>
                          </a:solidFill>
                          <a:latin typeface="Arial"/>
                        </a:rPr>
                        <a:t>Company policies, rules, processes</a:t>
                      </a:r>
                    </a:p>
                  </a:txBody>
                  <a:tcPr marL="109728" marR="109728" marT="64008" marB="64008" anchor="ctr">
                    <a:solidFill>
                      <a:srgbClr val="F2F2F2"/>
                    </a:solidFill>
                  </a:tcPr>
                </a:tc>
                <a:extLst>
                  <a:ext uri="{0D108BD9-81ED-4DB2-BD59-A6C34878D82A}">
                    <a16:rowId xmlns:a16="http://schemas.microsoft.com/office/drawing/2014/main" val="10002"/>
                  </a:ext>
                </a:extLst>
              </a:tr>
              <a:tr h="365760">
                <a:tc>
                  <a:txBody>
                    <a:bodyPr/>
                    <a:lstStyle/>
                    <a:p>
                      <a:r>
                        <a:rPr sz="1300" b="1">
                          <a:solidFill>
                            <a:srgbClr val="000000"/>
                          </a:solidFill>
                          <a:latin typeface="Courier New"/>
                        </a:rPr>
                        <a:t>role_library.pdf</a:t>
                      </a:r>
                    </a:p>
                  </a:txBody>
                  <a:tcPr marL="109728" marR="109728" marT="64008" marB="64008" anchor="ctr">
                    <a:solidFill>
                      <a:srgbClr val="FFFFFF"/>
                    </a:solidFill>
                  </a:tcPr>
                </a:tc>
                <a:tc>
                  <a:txBody>
                    <a:bodyPr/>
                    <a:lstStyle/>
                    <a:p>
                      <a:r>
                        <a:rPr sz="1300" b="0">
                          <a:solidFill>
                            <a:srgbClr val="3C3C3C"/>
                          </a:solidFill>
                          <a:latin typeface="Arial"/>
                        </a:rPr>
                        <a:t>Job roles, responsibilities, skills</a:t>
                      </a:r>
                    </a:p>
                  </a:txBody>
                  <a:tcPr marL="109728" marR="109728" marT="64008" marB="64008" anchor="ctr">
                    <a:solidFill>
                      <a:srgbClr val="FFFFFF"/>
                    </a:solidFill>
                  </a:tcPr>
                </a:tc>
                <a:extLst>
                  <a:ext uri="{0D108BD9-81ED-4DB2-BD59-A6C34878D82A}">
                    <a16:rowId xmlns:a16="http://schemas.microsoft.com/office/drawing/2014/main" val="10003"/>
                  </a:ext>
                </a:extLst>
              </a:tr>
              <a:tr h="365760">
                <a:tc>
                  <a:txBody>
                    <a:bodyPr/>
                    <a:lstStyle/>
                    <a:p>
                      <a:r>
                        <a:rPr sz="1300" b="1">
                          <a:solidFill>
                            <a:srgbClr val="000000"/>
                          </a:solidFill>
                          <a:latin typeface="Courier New"/>
                        </a:rPr>
                        <a:t>Benefit_Options.pdf</a:t>
                      </a:r>
                    </a:p>
                  </a:txBody>
                  <a:tcPr marL="109728" marR="109728" marT="64008" marB="64008" anchor="ctr">
                    <a:solidFill>
                      <a:srgbClr val="F2F2F2"/>
                    </a:solidFill>
                  </a:tcPr>
                </a:tc>
                <a:tc>
                  <a:txBody>
                    <a:bodyPr/>
                    <a:lstStyle/>
                    <a:p>
                      <a:r>
                        <a:rPr sz="1300" b="0">
                          <a:solidFill>
                            <a:srgbClr val="3C3C3C"/>
                          </a:solidFill>
                          <a:latin typeface="Arial"/>
                        </a:rPr>
                        <a:t>Overview of employee benefits</a:t>
                      </a:r>
                    </a:p>
                  </a:txBody>
                  <a:tcPr marL="109728" marR="109728" marT="64008" marB="64008" anchor="ctr">
                    <a:solidFill>
                      <a:srgbClr val="F2F2F2"/>
                    </a:solidFill>
                  </a:tcPr>
                </a:tc>
                <a:extLst>
                  <a:ext uri="{0D108BD9-81ED-4DB2-BD59-A6C34878D82A}">
                    <a16:rowId xmlns:a16="http://schemas.microsoft.com/office/drawing/2014/main" val="10004"/>
                  </a:ext>
                </a:extLst>
              </a:tr>
              <a:tr h="365760">
                <a:tc>
                  <a:txBody>
                    <a:bodyPr/>
                    <a:lstStyle/>
                    <a:p>
                      <a:r>
                        <a:rPr sz="1300" b="1">
                          <a:solidFill>
                            <a:srgbClr val="000000"/>
                          </a:solidFill>
                          <a:latin typeface="Courier New"/>
                        </a:rPr>
                        <a:t>Northwind_Health_Plus_Benefits_Details.pdf</a:t>
                      </a:r>
                    </a:p>
                  </a:txBody>
                  <a:tcPr marL="109728" marR="109728" marT="64008" marB="64008" anchor="ctr">
                    <a:solidFill>
                      <a:srgbClr val="FFFFFF"/>
                    </a:solidFill>
                  </a:tcPr>
                </a:tc>
                <a:tc>
                  <a:txBody>
                    <a:bodyPr/>
                    <a:lstStyle/>
                    <a:p>
                      <a:r>
                        <a:rPr sz="1300" b="0">
                          <a:solidFill>
                            <a:srgbClr val="3C3C3C"/>
                          </a:solidFill>
                          <a:latin typeface="Arial"/>
                        </a:rPr>
                        <a:t>Premium health plan details</a:t>
                      </a:r>
                    </a:p>
                  </a:txBody>
                  <a:tcPr marL="109728" marR="109728" marT="64008" marB="64008" anchor="ctr">
                    <a:solidFill>
                      <a:srgbClr val="FFFFFF"/>
                    </a:solidFill>
                  </a:tcPr>
                </a:tc>
                <a:extLst>
                  <a:ext uri="{0D108BD9-81ED-4DB2-BD59-A6C34878D82A}">
                    <a16:rowId xmlns:a16="http://schemas.microsoft.com/office/drawing/2014/main" val="10005"/>
                  </a:ext>
                </a:extLst>
              </a:tr>
              <a:tr h="365760">
                <a:tc>
                  <a:txBody>
                    <a:bodyPr/>
                    <a:lstStyle/>
                    <a:p>
                      <a:r>
                        <a:rPr sz="1300" b="1">
                          <a:solidFill>
                            <a:srgbClr val="000000"/>
                          </a:solidFill>
                          <a:latin typeface="Courier New"/>
                        </a:rPr>
                        <a:t>Northwind_Standard_Benefits_Details.pdf</a:t>
                      </a:r>
                    </a:p>
                  </a:txBody>
                  <a:tcPr marL="109728" marR="109728" marT="64008" marB="64008" anchor="ctr">
                    <a:solidFill>
                      <a:srgbClr val="F2F2F2"/>
                    </a:solidFill>
                  </a:tcPr>
                </a:tc>
                <a:tc>
                  <a:txBody>
                    <a:bodyPr/>
                    <a:lstStyle/>
                    <a:p>
                      <a:r>
                        <a:rPr sz="1300" b="0">
                          <a:solidFill>
                            <a:srgbClr val="3C3C3C"/>
                          </a:solidFill>
                          <a:latin typeface="Arial"/>
                        </a:rPr>
                        <a:t>Standard health plan details</a:t>
                      </a:r>
                    </a:p>
                  </a:txBody>
                  <a:tcPr marL="109728" marR="109728" marT="64008" marB="64008" anchor="ctr">
                    <a:solidFill>
                      <a:srgbClr val="F2F2F2"/>
                    </a:solidFill>
                  </a:tcPr>
                </a:tc>
                <a:extLst>
                  <a:ext uri="{0D108BD9-81ED-4DB2-BD59-A6C34878D82A}">
                    <a16:rowId xmlns:a16="http://schemas.microsoft.com/office/drawing/2014/main" val="10006"/>
                  </a:ext>
                </a:extLst>
              </a:tr>
              <a:tr h="365760">
                <a:tc>
                  <a:txBody>
                    <a:bodyPr/>
                    <a:lstStyle/>
                    <a:p>
                      <a:r>
                        <a:rPr sz="1300" b="1">
                          <a:solidFill>
                            <a:srgbClr val="000000"/>
                          </a:solidFill>
                          <a:latin typeface="Courier New"/>
                        </a:rPr>
                        <a:t>PerksPlus.pdf</a:t>
                      </a:r>
                    </a:p>
                  </a:txBody>
                  <a:tcPr marL="109728" marR="109728" marT="64008" marB="64008" anchor="ctr">
                    <a:solidFill>
                      <a:srgbClr val="FFFFFF"/>
                    </a:solidFill>
                  </a:tcPr>
                </a:tc>
                <a:tc>
                  <a:txBody>
                    <a:bodyPr/>
                    <a:lstStyle/>
                    <a:p>
                      <a:r>
                        <a:rPr sz="1300" b="0">
                          <a:solidFill>
                            <a:srgbClr val="3C3C3C"/>
                          </a:solidFill>
                          <a:latin typeface="Arial"/>
                        </a:rPr>
                        <a:t>Employee perks programme</a:t>
                      </a:r>
                    </a:p>
                  </a:txBody>
                  <a:tcPr marL="109728" marR="109728" marT="64008" marB="64008"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02 · WHAT</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Questions our agent will answer</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274320"/>
          </a:xfrm>
          <a:prstGeom prst="rect">
            <a:avLst/>
          </a:prstGeom>
          <a:noFill/>
        </p:spPr>
        <p:txBody>
          <a:bodyPr wrap="square" lIns="0" tIns="0" rIns="0" bIns="0" anchor="t">
            <a:spAutoFit/>
          </a:bodyPr>
          <a:lstStyle/>
          <a:p>
            <a:pPr algn="r"/>
            <a:r>
              <a:rPr sz="1000" b="0" i="0">
                <a:solidFill>
                  <a:srgbClr val="666666"/>
                </a:solidFill>
                <a:latin typeface="Arial"/>
              </a:rPr>
              <a:t>07</a:t>
            </a:r>
          </a:p>
        </p:txBody>
      </p:sp>
      <p:graphicFrame>
        <p:nvGraphicFramePr>
          <p:cNvPr id="6" name="Table 5"/>
          <p:cNvGraphicFramePr>
            <a:graphicFrameLocks noGrp="1"/>
          </p:cNvGraphicFramePr>
          <p:nvPr/>
        </p:nvGraphicFramePr>
        <p:xfrm>
          <a:off x="548640" y="1737360"/>
          <a:ext cx="11094415" cy="2414016"/>
        </p:xfrm>
        <a:graphic>
          <a:graphicData uri="http://schemas.openxmlformats.org/drawingml/2006/table">
            <a:tbl>
              <a:tblPr firstRow="1">
                <a:tableStyleId>{5940675A-B579-460E-94D1-54222C63F5DA}</a:tableStyleId>
              </a:tblPr>
              <a:tblGrid>
                <a:gridCol w="51206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779215">
                  <a:extLst>
                    <a:ext uri="{9D8B030D-6E8A-4147-A177-3AD203B41FA5}">
                      <a16:colId xmlns:a16="http://schemas.microsoft.com/office/drawing/2014/main" val="20002"/>
                    </a:ext>
                  </a:extLst>
                </a:gridCol>
              </a:tblGrid>
              <a:tr h="365760">
                <a:tc>
                  <a:txBody>
                    <a:bodyPr/>
                    <a:lstStyle/>
                    <a:p>
                      <a:r>
                        <a:rPr sz="1500" b="1">
                          <a:solidFill>
                            <a:srgbClr val="FFFFFF"/>
                          </a:solidFill>
                          <a:latin typeface="Arial"/>
                        </a:rPr>
                        <a:t>Question</a:t>
                      </a:r>
                    </a:p>
                  </a:txBody>
                  <a:tcPr marL="109728" marR="109728" marT="64008" marB="64008" anchor="ctr">
                    <a:solidFill>
                      <a:srgbClr val="000000"/>
                    </a:solidFill>
                  </a:tcPr>
                </a:tc>
                <a:tc>
                  <a:txBody>
                    <a:bodyPr/>
                    <a:lstStyle/>
                    <a:p>
                      <a:r>
                        <a:rPr sz="1500" b="1">
                          <a:solidFill>
                            <a:srgbClr val="FFFFFF"/>
                          </a:solidFill>
                          <a:latin typeface="Arial"/>
                        </a:rPr>
                        <a:t>Type</a:t>
                      </a:r>
                    </a:p>
                  </a:txBody>
                  <a:tcPr marL="109728" marR="109728" marT="64008" marB="64008" anchor="ctr">
                    <a:solidFill>
                      <a:srgbClr val="000000"/>
                    </a:solidFill>
                  </a:tcPr>
                </a:tc>
                <a:tc>
                  <a:txBody>
                    <a:bodyPr/>
                    <a:lstStyle/>
                    <a:p>
                      <a:r>
                        <a:rPr sz="1500" b="1">
                          <a:solidFill>
                            <a:srgbClr val="FFFFFF"/>
                          </a:solidFill>
                          <a:latin typeface="Arial"/>
                        </a:rPr>
                        <a:t>Why the graph helps</a:t>
                      </a:r>
                    </a:p>
                  </a:txBody>
                  <a:tcPr marL="109728" marR="109728" marT="64008" marB="64008" anchor="ctr">
                    <a:solidFill>
                      <a:srgbClr val="000000"/>
                    </a:solidFill>
                  </a:tcPr>
                </a:tc>
                <a:extLst>
                  <a:ext uri="{0D108BD9-81ED-4DB2-BD59-A6C34878D82A}">
                    <a16:rowId xmlns:a16="http://schemas.microsoft.com/office/drawing/2014/main" val="10000"/>
                  </a:ext>
                </a:extLst>
              </a:tr>
              <a:tr h="365760">
                <a:tc>
                  <a:txBody>
                    <a:bodyPr/>
                    <a:lstStyle/>
                    <a:p>
                      <a:r>
                        <a:rPr sz="1500" b="1">
                          <a:solidFill>
                            <a:srgbClr val="000000"/>
                          </a:solidFill>
                          <a:latin typeface="Arial"/>
                        </a:rPr>
                        <a:t>What is the Health Plus deductible?</a:t>
                      </a:r>
                    </a:p>
                  </a:txBody>
                  <a:tcPr marL="109728" marR="109728" marT="64008" marB="64008" anchor="ctr">
                    <a:solidFill>
                      <a:srgbClr val="FFFFFF"/>
                    </a:solidFill>
                  </a:tcPr>
                </a:tc>
                <a:tc>
                  <a:txBody>
                    <a:bodyPr/>
                    <a:lstStyle/>
                    <a:p>
                      <a:r>
                        <a:rPr sz="1500" b="0">
                          <a:solidFill>
                            <a:srgbClr val="3C3C3C"/>
                          </a:solidFill>
                          <a:latin typeface="Arial"/>
                        </a:rPr>
                        <a:t>Simple fact</a:t>
                      </a:r>
                    </a:p>
                  </a:txBody>
                  <a:tcPr marL="109728" marR="109728" marT="64008" marB="64008" anchor="ctr">
                    <a:solidFill>
                      <a:srgbClr val="FFFFFF"/>
                    </a:solidFill>
                  </a:tcPr>
                </a:tc>
                <a:tc>
                  <a:txBody>
                    <a:bodyPr/>
                    <a:lstStyle/>
                    <a:p>
                      <a:r>
                        <a:rPr sz="1500" b="0">
                          <a:solidFill>
                            <a:srgbClr val="3C3C3C"/>
                          </a:solidFill>
                          <a:latin typeface="Arial"/>
                        </a:rPr>
                        <a:t>Not needed: plain RAG is enough</a:t>
                      </a:r>
                    </a:p>
                  </a:txBody>
                  <a:tcPr marL="109728" marR="109728" marT="64008" marB="64008" anchor="ctr">
                    <a:solidFill>
                      <a:srgbClr val="FFFFFF"/>
                    </a:solidFill>
                  </a:tcPr>
                </a:tc>
                <a:extLst>
                  <a:ext uri="{0D108BD9-81ED-4DB2-BD59-A6C34878D82A}">
                    <a16:rowId xmlns:a16="http://schemas.microsoft.com/office/drawing/2014/main" val="10001"/>
                  </a:ext>
                </a:extLst>
              </a:tr>
              <a:tr h="365760">
                <a:tc>
                  <a:txBody>
                    <a:bodyPr/>
                    <a:lstStyle/>
                    <a:p>
                      <a:r>
                        <a:rPr sz="1500" b="1">
                          <a:solidFill>
                            <a:srgbClr val="000000"/>
                          </a:solidFill>
                          <a:latin typeface="Arial"/>
                        </a:rPr>
                        <a:t>Which services does Health Plus cover that Standard doesn't?</a:t>
                      </a:r>
                    </a:p>
                  </a:txBody>
                  <a:tcPr marL="109728" marR="109728" marT="64008" marB="64008" anchor="ctr">
                    <a:solidFill>
                      <a:srgbClr val="F2F2F2"/>
                    </a:solidFill>
                  </a:tcPr>
                </a:tc>
                <a:tc>
                  <a:txBody>
                    <a:bodyPr/>
                    <a:lstStyle/>
                    <a:p>
                      <a:r>
                        <a:rPr sz="1500" b="0">
                          <a:solidFill>
                            <a:srgbClr val="3C3C3C"/>
                          </a:solidFill>
                          <a:latin typeface="Arial"/>
                        </a:rPr>
                        <a:t>Comparison</a:t>
                      </a:r>
                    </a:p>
                  </a:txBody>
                  <a:tcPr marL="109728" marR="109728" marT="64008" marB="64008" anchor="ctr">
                    <a:solidFill>
                      <a:srgbClr val="F2F2F2"/>
                    </a:solidFill>
                  </a:tcPr>
                </a:tc>
                <a:tc>
                  <a:txBody>
                    <a:bodyPr/>
                    <a:lstStyle/>
                    <a:p>
                      <a:r>
                        <a:rPr sz="1500" b="0">
                          <a:solidFill>
                            <a:srgbClr val="3C3C3C"/>
                          </a:solidFill>
                          <a:latin typeface="Arial"/>
                        </a:rPr>
                        <a:t>Compares facts from two documents</a:t>
                      </a:r>
                    </a:p>
                  </a:txBody>
                  <a:tcPr marL="109728" marR="109728" marT="64008" marB="64008" anchor="ctr">
                    <a:solidFill>
                      <a:srgbClr val="F2F2F2"/>
                    </a:solidFill>
                  </a:tcPr>
                </a:tc>
                <a:extLst>
                  <a:ext uri="{0D108BD9-81ED-4DB2-BD59-A6C34878D82A}">
                    <a16:rowId xmlns:a16="http://schemas.microsoft.com/office/drawing/2014/main" val="10002"/>
                  </a:ext>
                </a:extLst>
              </a:tr>
              <a:tr h="365760">
                <a:tc>
                  <a:txBody>
                    <a:bodyPr/>
                    <a:lstStyle/>
                    <a:p>
                      <a:r>
                        <a:rPr sz="1500" b="1">
                          <a:solidFill>
                            <a:srgbClr val="000000"/>
                          </a:solidFill>
                          <a:latin typeface="Arial"/>
                        </a:rPr>
                        <a:t>What skills do engineering roles have in common?</a:t>
                      </a:r>
                    </a:p>
                  </a:txBody>
                  <a:tcPr marL="109728" marR="109728" marT="64008" marB="64008" anchor="ctr">
                    <a:solidFill>
                      <a:srgbClr val="FFFFFF"/>
                    </a:solidFill>
                  </a:tcPr>
                </a:tc>
                <a:tc>
                  <a:txBody>
                    <a:bodyPr/>
                    <a:lstStyle/>
                    <a:p>
                      <a:r>
                        <a:rPr sz="1500" b="0">
                          <a:solidFill>
                            <a:srgbClr val="3C3C3C"/>
                          </a:solidFill>
                          <a:latin typeface="Arial"/>
                        </a:rPr>
                        <a:t>List</a:t>
                      </a:r>
                    </a:p>
                  </a:txBody>
                  <a:tcPr marL="109728" marR="109728" marT="64008" marB="64008" anchor="ctr">
                    <a:solidFill>
                      <a:srgbClr val="FFFFFF"/>
                    </a:solidFill>
                  </a:tcPr>
                </a:tc>
                <a:tc>
                  <a:txBody>
                    <a:bodyPr/>
                    <a:lstStyle/>
                    <a:p>
                      <a:r>
                        <a:rPr sz="1500" b="0">
                          <a:solidFill>
                            <a:srgbClr val="3C3C3C"/>
                          </a:solidFill>
                          <a:latin typeface="Arial"/>
                        </a:rPr>
                        <a:t>Collects facts from many roles</a:t>
                      </a:r>
                    </a:p>
                  </a:txBody>
                  <a:tcPr marL="109728" marR="109728" marT="64008" marB="64008" anchor="ctr">
                    <a:solidFill>
                      <a:srgbClr val="FFFFFF"/>
                    </a:solidFill>
                  </a:tcPr>
                </a:tc>
                <a:extLst>
                  <a:ext uri="{0D108BD9-81ED-4DB2-BD59-A6C34878D82A}">
                    <a16:rowId xmlns:a16="http://schemas.microsoft.com/office/drawing/2014/main" val="10003"/>
                  </a:ext>
                </a:extLst>
              </a:tr>
              <a:tr h="365760">
                <a:tc>
                  <a:txBody>
                    <a:bodyPr/>
                    <a:lstStyle/>
                    <a:p>
                      <a:r>
                        <a:rPr sz="1500" b="1">
                          <a:solidFill>
                            <a:srgbClr val="000000"/>
                          </a:solidFill>
                          <a:latin typeface="Arial"/>
                        </a:rPr>
                        <a:t>Which policies apply to managers?</a:t>
                      </a:r>
                    </a:p>
                  </a:txBody>
                  <a:tcPr marL="109728" marR="109728" marT="64008" marB="64008" anchor="ctr">
                    <a:solidFill>
                      <a:srgbClr val="F2F2F2"/>
                    </a:solidFill>
                  </a:tcPr>
                </a:tc>
                <a:tc>
                  <a:txBody>
                    <a:bodyPr/>
                    <a:lstStyle/>
                    <a:p>
                      <a:r>
                        <a:rPr sz="1500" b="0">
                          <a:solidFill>
                            <a:srgbClr val="3C3C3C"/>
                          </a:solidFill>
                          <a:latin typeface="Arial"/>
                        </a:rPr>
                        <a:t>Relationship</a:t>
                      </a:r>
                    </a:p>
                  </a:txBody>
                  <a:tcPr marL="109728" marR="109728" marT="64008" marB="64008" anchor="ctr">
                    <a:solidFill>
                      <a:srgbClr val="F2F2F2"/>
                    </a:solidFill>
                  </a:tcPr>
                </a:tc>
                <a:tc>
                  <a:txBody>
                    <a:bodyPr/>
                    <a:lstStyle/>
                    <a:p>
                      <a:r>
                        <a:rPr sz="1500" b="0">
                          <a:solidFill>
                            <a:srgbClr val="3C3C3C"/>
                          </a:solidFill>
                          <a:latin typeface="Arial"/>
                        </a:rPr>
                        <a:t>Follows APPLIES_TO links</a:t>
                      </a:r>
                    </a:p>
                  </a:txBody>
                  <a:tcPr marL="109728" marR="109728" marT="64008" marB="64008" anchor="ctr">
                    <a:solidFill>
                      <a:srgbClr val="F2F2F2"/>
                    </a:solidFill>
                  </a:tcPr>
                </a:tc>
                <a:extLst>
                  <a:ext uri="{0D108BD9-81ED-4DB2-BD59-A6C34878D82A}">
                    <a16:rowId xmlns:a16="http://schemas.microsoft.com/office/drawing/2014/main" val="10004"/>
                  </a:ext>
                </a:extLst>
              </a:tr>
              <a:tr h="365760">
                <a:tc>
                  <a:txBody>
                    <a:bodyPr/>
                    <a:lstStyle/>
                    <a:p>
                      <a:r>
                        <a:rPr sz="1500" b="1">
                          <a:solidFill>
                            <a:srgbClr val="000000"/>
                          </a:solidFill>
                          <a:latin typeface="Arial"/>
                        </a:rPr>
                        <a:t>What is Zava's stock price?</a:t>
                      </a:r>
                    </a:p>
                  </a:txBody>
                  <a:tcPr marL="109728" marR="109728" marT="64008" marB="64008" anchor="ctr">
                    <a:solidFill>
                      <a:srgbClr val="FFFFFF"/>
                    </a:solidFill>
                  </a:tcPr>
                </a:tc>
                <a:tc>
                  <a:txBody>
                    <a:bodyPr/>
                    <a:lstStyle/>
                    <a:p>
                      <a:r>
                        <a:rPr sz="1500" b="0">
                          <a:solidFill>
                            <a:srgbClr val="3C3C3C"/>
                          </a:solidFill>
                          <a:latin typeface="Arial"/>
                        </a:rPr>
                        <a:t>Not in the documents</a:t>
                      </a:r>
                    </a:p>
                  </a:txBody>
                  <a:tcPr marL="109728" marR="109728" marT="64008" marB="64008" anchor="ctr">
                    <a:solidFill>
                      <a:srgbClr val="FFFFFF"/>
                    </a:solidFill>
                  </a:tcPr>
                </a:tc>
                <a:tc>
                  <a:txBody>
                    <a:bodyPr/>
                    <a:lstStyle/>
                    <a:p>
                      <a:r>
                        <a:rPr sz="1500" b="0">
                          <a:solidFill>
                            <a:srgbClr val="3C3C3C"/>
                          </a:solidFill>
                          <a:latin typeface="Arial"/>
                        </a:rPr>
                        <a:t>The agent must say it doesn't know</a:t>
                      </a:r>
                    </a:p>
                  </a:txBody>
                  <a:tcPr marL="109728" marR="109728" marT="64008" marB="64008"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03 · HOW</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How it works: two flows</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274320"/>
          </a:xfrm>
          <a:prstGeom prst="rect">
            <a:avLst/>
          </a:prstGeom>
          <a:noFill/>
        </p:spPr>
        <p:txBody>
          <a:bodyPr wrap="square" lIns="0" tIns="0" rIns="0" bIns="0" anchor="t">
            <a:spAutoFit/>
          </a:bodyPr>
          <a:lstStyle/>
          <a:p>
            <a:pPr algn="r"/>
            <a:r>
              <a:rPr sz="1000" b="0" i="0">
                <a:solidFill>
                  <a:srgbClr val="666666"/>
                </a:solidFill>
                <a:latin typeface="Arial"/>
              </a:rPr>
              <a:t>08</a:t>
            </a:r>
          </a:p>
        </p:txBody>
      </p:sp>
      <p:sp>
        <p:nvSpPr>
          <p:cNvPr id="6" name="TextBox 5"/>
          <p:cNvSpPr txBox="1"/>
          <p:nvPr/>
        </p:nvSpPr>
        <p:spPr>
          <a:xfrm>
            <a:off x="548640" y="1691640"/>
            <a:ext cx="11094415" cy="274320"/>
          </a:xfrm>
          <a:prstGeom prst="rect">
            <a:avLst/>
          </a:prstGeom>
          <a:noFill/>
        </p:spPr>
        <p:txBody>
          <a:bodyPr wrap="square" lIns="0" tIns="0" rIns="0" bIns="0" anchor="t">
            <a:spAutoFit/>
          </a:bodyPr>
          <a:lstStyle/>
          <a:p>
            <a:pPr algn="l"/>
            <a:r>
              <a:rPr sz="1300" b="1" i="0" spc="200">
                <a:solidFill>
                  <a:srgbClr val="000000"/>
                </a:solidFill>
                <a:latin typeface="Arial"/>
              </a:rPr>
              <a:t>A · BUILD THE KNOWLEDGE GRAPH (RUN ONCE)</a:t>
            </a:r>
          </a:p>
        </p:txBody>
      </p:sp>
      <p:sp>
        <p:nvSpPr>
          <p:cNvPr id="7" name="Rounded Rectangle 6"/>
          <p:cNvSpPr/>
          <p:nvPr/>
        </p:nvSpPr>
        <p:spPr>
          <a:xfrm>
            <a:off x="548640" y="2057400"/>
            <a:ext cx="2396413" cy="1280160"/>
          </a:xfrm>
          <a:prstGeom prst="roundRect">
            <a:avLst>
              <a:gd name="adj" fmla="val 8000"/>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7240" y="2258568"/>
            <a:ext cx="1939213" cy="457200"/>
          </a:xfrm>
          <a:prstGeom prst="rect">
            <a:avLst/>
          </a:prstGeom>
          <a:noFill/>
        </p:spPr>
        <p:txBody>
          <a:bodyPr wrap="square" lIns="0" tIns="0" rIns="0" bIns="0" anchor="t">
            <a:spAutoFit/>
          </a:bodyPr>
          <a:lstStyle/>
          <a:p>
            <a:pPr algn="l"/>
            <a:r>
              <a:rPr sz="1800" b="1" i="0">
                <a:solidFill>
                  <a:srgbClr val="000000"/>
                </a:solidFill>
                <a:latin typeface="Arial"/>
              </a:rPr>
              <a:t>Zava documents</a:t>
            </a:r>
          </a:p>
        </p:txBody>
      </p:sp>
      <p:sp>
        <p:nvSpPr>
          <p:cNvPr id="9" name="TextBox 8"/>
          <p:cNvSpPr txBox="1"/>
          <p:nvPr/>
        </p:nvSpPr>
        <p:spPr>
          <a:xfrm>
            <a:off x="777240" y="2788920"/>
            <a:ext cx="1939213" cy="457200"/>
          </a:xfrm>
          <a:prstGeom prst="rect">
            <a:avLst/>
          </a:prstGeom>
          <a:noFill/>
        </p:spPr>
        <p:txBody>
          <a:bodyPr wrap="square" lIns="0" tIns="0" rIns="0" bIns="0" anchor="t">
            <a:spAutoFit/>
          </a:bodyPr>
          <a:lstStyle/>
          <a:p>
            <a:pPr algn="l"/>
            <a:r>
              <a:rPr sz="1400" b="0" i="0">
                <a:solidFill>
                  <a:srgbClr val="3C3C3C"/>
                </a:solidFill>
                <a:latin typeface="Arial"/>
              </a:rPr>
              <a:t>7 files</a:t>
            </a:r>
          </a:p>
        </p:txBody>
      </p:sp>
      <p:cxnSp>
        <p:nvCxnSpPr>
          <p:cNvPr id="10" name="Connector 9"/>
          <p:cNvCxnSpPr/>
          <p:nvPr/>
        </p:nvCxnSpPr>
        <p:spPr>
          <a:xfrm>
            <a:off x="3018205" y="2697480"/>
            <a:ext cx="356616"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447973" y="2057400"/>
            <a:ext cx="2396413" cy="1280160"/>
          </a:xfrm>
          <a:prstGeom prst="roundRect">
            <a:avLst>
              <a:gd name="adj" fmla="val 8000"/>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676573" y="2258568"/>
            <a:ext cx="1939213" cy="457200"/>
          </a:xfrm>
          <a:prstGeom prst="rect">
            <a:avLst/>
          </a:prstGeom>
          <a:noFill/>
        </p:spPr>
        <p:txBody>
          <a:bodyPr wrap="square" lIns="0" tIns="0" rIns="0" bIns="0" anchor="t">
            <a:spAutoFit/>
          </a:bodyPr>
          <a:lstStyle/>
          <a:p>
            <a:pPr algn="l"/>
            <a:r>
              <a:rPr sz="1800" b="1" i="0">
                <a:solidFill>
                  <a:srgbClr val="000000"/>
                </a:solidFill>
                <a:latin typeface="Arial"/>
              </a:rPr>
              <a:t>Document Intelligence</a:t>
            </a:r>
          </a:p>
        </p:txBody>
      </p:sp>
      <p:sp>
        <p:nvSpPr>
          <p:cNvPr id="13" name="TextBox 12"/>
          <p:cNvSpPr txBox="1"/>
          <p:nvPr/>
        </p:nvSpPr>
        <p:spPr>
          <a:xfrm>
            <a:off x="3676573" y="2788920"/>
            <a:ext cx="1939213" cy="457200"/>
          </a:xfrm>
          <a:prstGeom prst="rect">
            <a:avLst/>
          </a:prstGeom>
          <a:noFill/>
        </p:spPr>
        <p:txBody>
          <a:bodyPr wrap="square" lIns="0" tIns="0" rIns="0" bIns="0" anchor="t">
            <a:spAutoFit/>
          </a:bodyPr>
          <a:lstStyle/>
          <a:p>
            <a:pPr algn="l"/>
            <a:r>
              <a:rPr sz="1400" b="0" i="0">
                <a:solidFill>
                  <a:srgbClr val="3C3C3C"/>
                </a:solidFill>
                <a:latin typeface="Arial"/>
              </a:rPr>
              <a:t>PDF → Markdown</a:t>
            </a:r>
          </a:p>
        </p:txBody>
      </p:sp>
      <p:cxnSp>
        <p:nvCxnSpPr>
          <p:cNvPr id="14" name="Connector 13"/>
          <p:cNvCxnSpPr/>
          <p:nvPr/>
        </p:nvCxnSpPr>
        <p:spPr>
          <a:xfrm>
            <a:off x="5917539" y="2697480"/>
            <a:ext cx="356616"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347307" y="2057400"/>
            <a:ext cx="2396413" cy="1280160"/>
          </a:xfrm>
          <a:prstGeom prst="roundRect">
            <a:avLst>
              <a:gd name="adj" fmla="val 8000"/>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75907" y="2258568"/>
            <a:ext cx="1939213" cy="457200"/>
          </a:xfrm>
          <a:prstGeom prst="rect">
            <a:avLst/>
          </a:prstGeom>
          <a:noFill/>
        </p:spPr>
        <p:txBody>
          <a:bodyPr wrap="square" lIns="0" tIns="0" rIns="0" bIns="0" anchor="t">
            <a:spAutoFit/>
          </a:bodyPr>
          <a:lstStyle/>
          <a:p>
            <a:pPr algn="l"/>
            <a:r>
              <a:rPr sz="1800" b="1" i="0">
                <a:solidFill>
                  <a:srgbClr val="000000"/>
                </a:solidFill>
                <a:latin typeface="Arial"/>
              </a:rPr>
              <a:t>Foundry models</a:t>
            </a:r>
          </a:p>
        </p:txBody>
      </p:sp>
      <p:sp>
        <p:nvSpPr>
          <p:cNvPr id="17" name="TextBox 16"/>
          <p:cNvSpPr txBox="1"/>
          <p:nvPr/>
        </p:nvSpPr>
        <p:spPr>
          <a:xfrm>
            <a:off x="6575907" y="2788920"/>
            <a:ext cx="1939213" cy="457200"/>
          </a:xfrm>
          <a:prstGeom prst="rect">
            <a:avLst/>
          </a:prstGeom>
          <a:noFill/>
        </p:spPr>
        <p:txBody>
          <a:bodyPr wrap="square" lIns="0" tIns="0" rIns="0" bIns="0" anchor="t">
            <a:spAutoFit/>
          </a:bodyPr>
          <a:lstStyle/>
          <a:p>
            <a:pPr algn="l"/>
            <a:r>
              <a:rPr sz="1400" b="0" i="0">
                <a:solidFill>
                  <a:srgbClr val="3C3C3C"/>
                </a:solidFill>
                <a:latin typeface="Arial"/>
              </a:rPr>
              <a:t>Embed + extract entities</a:t>
            </a:r>
          </a:p>
        </p:txBody>
      </p:sp>
      <p:cxnSp>
        <p:nvCxnSpPr>
          <p:cNvPr id="18" name="Connector 17"/>
          <p:cNvCxnSpPr/>
          <p:nvPr/>
        </p:nvCxnSpPr>
        <p:spPr>
          <a:xfrm>
            <a:off x="8816873" y="2697480"/>
            <a:ext cx="356616"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246641" y="2057400"/>
            <a:ext cx="2396413" cy="1280160"/>
          </a:xfrm>
          <a:prstGeom prst="roundRect">
            <a:avLst>
              <a:gd name="adj" fmla="val 8000"/>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475241" y="2258568"/>
            <a:ext cx="1939213" cy="457200"/>
          </a:xfrm>
          <a:prstGeom prst="rect">
            <a:avLst/>
          </a:prstGeom>
          <a:noFill/>
        </p:spPr>
        <p:txBody>
          <a:bodyPr wrap="square" lIns="0" tIns="0" rIns="0" bIns="0" anchor="t">
            <a:spAutoFit/>
          </a:bodyPr>
          <a:lstStyle/>
          <a:p>
            <a:pPr algn="l"/>
            <a:r>
              <a:rPr sz="1800" b="1" i="0">
                <a:solidFill>
                  <a:srgbClr val="000000"/>
                </a:solidFill>
                <a:latin typeface="Arial"/>
              </a:rPr>
              <a:t>Neo4j</a:t>
            </a:r>
          </a:p>
        </p:txBody>
      </p:sp>
      <p:sp>
        <p:nvSpPr>
          <p:cNvPr id="21" name="TextBox 20"/>
          <p:cNvSpPr txBox="1"/>
          <p:nvPr/>
        </p:nvSpPr>
        <p:spPr>
          <a:xfrm>
            <a:off x="9475241" y="2788920"/>
            <a:ext cx="1939213" cy="457200"/>
          </a:xfrm>
          <a:prstGeom prst="rect">
            <a:avLst/>
          </a:prstGeom>
          <a:noFill/>
        </p:spPr>
        <p:txBody>
          <a:bodyPr wrap="square" lIns="0" tIns="0" rIns="0" bIns="0" anchor="t">
            <a:spAutoFit/>
          </a:bodyPr>
          <a:lstStyle/>
          <a:p>
            <a:pPr algn="l"/>
            <a:r>
              <a:rPr sz="1400" b="0" i="0">
                <a:solidFill>
                  <a:srgbClr val="3C3C3C"/>
                </a:solidFill>
                <a:latin typeface="Arial"/>
              </a:rPr>
              <a:t>Graph + vectors</a:t>
            </a:r>
          </a:p>
        </p:txBody>
      </p:sp>
      <p:sp>
        <p:nvSpPr>
          <p:cNvPr id="22" name="TextBox 21"/>
          <p:cNvSpPr txBox="1"/>
          <p:nvPr/>
        </p:nvSpPr>
        <p:spPr>
          <a:xfrm>
            <a:off x="548640" y="3886200"/>
            <a:ext cx="11094415" cy="274320"/>
          </a:xfrm>
          <a:prstGeom prst="rect">
            <a:avLst/>
          </a:prstGeom>
          <a:noFill/>
        </p:spPr>
        <p:txBody>
          <a:bodyPr wrap="square" lIns="0" tIns="0" rIns="0" bIns="0" anchor="t">
            <a:spAutoFit/>
          </a:bodyPr>
          <a:lstStyle/>
          <a:p>
            <a:pPr algn="l"/>
            <a:r>
              <a:rPr sz="1300" b="1" i="0" spc="200">
                <a:solidFill>
                  <a:srgbClr val="A100FF"/>
                </a:solidFill>
                <a:latin typeface="Arial"/>
              </a:rPr>
              <a:t>B · ANSWER A QUESTION (EVERY TIME)</a:t>
            </a:r>
          </a:p>
        </p:txBody>
      </p:sp>
      <p:sp>
        <p:nvSpPr>
          <p:cNvPr id="23" name="Rounded Rectangle 22"/>
          <p:cNvSpPr/>
          <p:nvPr/>
        </p:nvSpPr>
        <p:spPr>
          <a:xfrm>
            <a:off x="548640" y="4251960"/>
            <a:ext cx="2396413" cy="1280160"/>
          </a:xfrm>
          <a:prstGeom prst="roundRect">
            <a:avLst>
              <a:gd name="adj" fmla="val 8000"/>
            </a:avLst>
          </a:prstGeom>
          <a:solidFill>
            <a:srgbClr val="FFFFFF"/>
          </a:solidFill>
          <a:ln w="254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7240" y="4453128"/>
            <a:ext cx="1939213" cy="457200"/>
          </a:xfrm>
          <a:prstGeom prst="rect">
            <a:avLst/>
          </a:prstGeom>
          <a:noFill/>
        </p:spPr>
        <p:txBody>
          <a:bodyPr wrap="square" lIns="0" tIns="0" rIns="0" bIns="0" anchor="t">
            <a:spAutoFit/>
          </a:bodyPr>
          <a:lstStyle/>
          <a:p>
            <a:pPr algn="l"/>
            <a:r>
              <a:rPr sz="1800" b="1" i="0">
                <a:solidFill>
                  <a:srgbClr val="000000"/>
                </a:solidFill>
                <a:latin typeface="Arial"/>
              </a:rPr>
              <a:t>Employee</a:t>
            </a:r>
          </a:p>
        </p:txBody>
      </p:sp>
      <p:sp>
        <p:nvSpPr>
          <p:cNvPr id="25" name="TextBox 24"/>
          <p:cNvSpPr txBox="1"/>
          <p:nvPr/>
        </p:nvSpPr>
        <p:spPr>
          <a:xfrm>
            <a:off x="777240" y="4983480"/>
            <a:ext cx="1939213" cy="457200"/>
          </a:xfrm>
          <a:prstGeom prst="rect">
            <a:avLst/>
          </a:prstGeom>
          <a:noFill/>
        </p:spPr>
        <p:txBody>
          <a:bodyPr wrap="square" lIns="0" tIns="0" rIns="0" bIns="0" anchor="t">
            <a:spAutoFit/>
          </a:bodyPr>
          <a:lstStyle/>
          <a:p>
            <a:pPr algn="l"/>
            <a:r>
              <a:rPr sz="1400" b="0" i="0">
                <a:solidFill>
                  <a:srgbClr val="3C3C3C"/>
                </a:solidFill>
                <a:latin typeface="Arial"/>
              </a:rPr>
              <a:t>Asks in the Streamlit chat</a:t>
            </a:r>
          </a:p>
        </p:txBody>
      </p:sp>
      <p:cxnSp>
        <p:nvCxnSpPr>
          <p:cNvPr id="26" name="Connector 25"/>
          <p:cNvCxnSpPr/>
          <p:nvPr/>
        </p:nvCxnSpPr>
        <p:spPr>
          <a:xfrm>
            <a:off x="3018205" y="4892040"/>
            <a:ext cx="356616" cy="0"/>
          </a:xfrm>
          <a:prstGeom prst="line">
            <a:avLst/>
          </a:prstGeom>
          <a:ln w="3175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447973" y="4251960"/>
            <a:ext cx="2396413" cy="1280160"/>
          </a:xfrm>
          <a:prstGeom prst="roundRect">
            <a:avLst>
              <a:gd name="adj" fmla="val 8000"/>
            </a:avLst>
          </a:prstGeom>
          <a:solidFill>
            <a:srgbClr val="FFFFFF"/>
          </a:solidFill>
          <a:ln w="254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3676573" y="4453128"/>
            <a:ext cx="1939213" cy="457200"/>
          </a:xfrm>
          <a:prstGeom prst="rect">
            <a:avLst/>
          </a:prstGeom>
          <a:noFill/>
        </p:spPr>
        <p:txBody>
          <a:bodyPr wrap="square" lIns="0" tIns="0" rIns="0" bIns="0" anchor="t">
            <a:spAutoFit/>
          </a:bodyPr>
          <a:lstStyle/>
          <a:p>
            <a:pPr algn="l"/>
            <a:r>
              <a:rPr sz="1800" b="1" i="0">
                <a:solidFill>
                  <a:srgbClr val="000000"/>
                </a:solidFill>
                <a:latin typeface="Arial"/>
              </a:rPr>
              <a:t>Zava agent</a:t>
            </a:r>
          </a:p>
        </p:txBody>
      </p:sp>
      <p:sp>
        <p:nvSpPr>
          <p:cNvPr id="29" name="TextBox 28"/>
          <p:cNvSpPr txBox="1"/>
          <p:nvPr/>
        </p:nvSpPr>
        <p:spPr>
          <a:xfrm>
            <a:off x="3676573" y="4983480"/>
            <a:ext cx="1939213" cy="457200"/>
          </a:xfrm>
          <a:prstGeom prst="rect">
            <a:avLst/>
          </a:prstGeom>
          <a:noFill/>
        </p:spPr>
        <p:txBody>
          <a:bodyPr wrap="square" lIns="0" tIns="0" rIns="0" bIns="0" anchor="t">
            <a:spAutoFit/>
          </a:bodyPr>
          <a:lstStyle/>
          <a:p>
            <a:pPr algn="l"/>
            <a:r>
              <a:rPr sz="1400" b="0" i="0">
                <a:solidFill>
                  <a:srgbClr val="3C3C3C"/>
                </a:solidFill>
                <a:latin typeface="Arial"/>
              </a:rPr>
              <a:t>Foundry Agent Service</a:t>
            </a:r>
          </a:p>
        </p:txBody>
      </p:sp>
      <p:cxnSp>
        <p:nvCxnSpPr>
          <p:cNvPr id="30" name="Connector 29"/>
          <p:cNvCxnSpPr/>
          <p:nvPr/>
        </p:nvCxnSpPr>
        <p:spPr>
          <a:xfrm>
            <a:off x="5917539" y="4892040"/>
            <a:ext cx="356616" cy="0"/>
          </a:xfrm>
          <a:prstGeom prst="line">
            <a:avLst/>
          </a:prstGeom>
          <a:ln w="3175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347307" y="4251960"/>
            <a:ext cx="2396413" cy="1280160"/>
          </a:xfrm>
          <a:prstGeom prst="roundRect">
            <a:avLst>
              <a:gd name="adj" fmla="val 8000"/>
            </a:avLst>
          </a:prstGeom>
          <a:solidFill>
            <a:srgbClr val="FFFFFF"/>
          </a:solidFill>
          <a:ln w="254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6575907" y="4453128"/>
            <a:ext cx="1939213" cy="457200"/>
          </a:xfrm>
          <a:prstGeom prst="rect">
            <a:avLst/>
          </a:prstGeom>
          <a:noFill/>
        </p:spPr>
        <p:txBody>
          <a:bodyPr wrap="square" lIns="0" tIns="0" rIns="0" bIns="0" anchor="t">
            <a:spAutoFit/>
          </a:bodyPr>
          <a:lstStyle/>
          <a:p>
            <a:pPr algn="l"/>
            <a:r>
              <a:rPr sz="1800" b="1" i="0">
                <a:solidFill>
                  <a:srgbClr val="000000"/>
                </a:solidFill>
                <a:latin typeface="Arial"/>
              </a:rPr>
              <a:t>Tools</a:t>
            </a:r>
          </a:p>
        </p:txBody>
      </p:sp>
      <p:sp>
        <p:nvSpPr>
          <p:cNvPr id="33" name="TextBox 32"/>
          <p:cNvSpPr txBox="1"/>
          <p:nvPr/>
        </p:nvSpPr>
        <p:spPr>
          <a:xfrm>
            <a:off x="6575907" y="4983480"/>
            <a:ext cx="1939213" cy="457200"/>
          </a:xfrm>
          <a:prstGeom prst="rect">
            <a:avLst/>
          </a:prstGeom>
          <a:noFill/>
        </p:spPr>
        <p:txBody>
          <a:bodyPr wrap="square" lIns="0" tIns="0" rIns="0" bIns="0" anchor="t">
            <a:spAutoFit/>
          </a:bodyPr>
          <a:lstStyle/>
          <a:p>
            <a:pPr algn="l"/>
            <a:r>
              <a:rPr sz="1400" b="0" i="0">
                <a:solidFill>
                  <a:srgbClr val="3C3C3C"/>
                </a:solidFill>
                <a:latin typeface="Arial"/>
              </a:rPr>
              <a:t>Search text and graph</a:t>
            </a:r>
          </a:p>
        </p:txBody>
      </p:sp>
      <p:cxnSp>
        <p:nvCxnSpPr>
          <p:cNvPr id="34" name="Connector 33"/>
          <p:cNvCxnSpPr/>
          <p:nvPr/>
        </p:nvCxnSpPr>
        <p:spPr>
          <a:xfrm>
            <a:off x="8816873" y="4892040"/>
            <a:ext cx="356616" cy="0"/>
          </a:xfrm>
          <a:prstGeom prst="line">
            <a:avLst/>
          </a:prstGeom>
          <a:ln w="3175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246641" y="4251960"/>
            <a:ext cx="2396413" cy="1280160"/>
          </a:xfrm>
          <a:prstGeom prst="roundRect">
            <a:avLst>
              <a:gd name="adj" fmla="val 8000"/>
            </a:avLst>
          </a:prstGeom>
          <a:solidFill>
            <a:srgbClr val="FFFFFF"/>
          </a:solidFill>
          <a:ln w="254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9475241" y="4453128"/>
            <a:ext cx="1939213" cy="457200"/>
          </a:xfrm>
          <a:prstGeom prst="rect">
            <a:avLst/>
          </a:prstGeom>
          <a:noFill/>
        </p:spPr>
        <p:txBody>
          <a:bodyPr wrap="square" lIns="0" tIns="0" rIns="0" bIns="0" anchor="t">
            <a:spAutoFit/>
          </a:bodyPr>
          <a:lstStyle/>
          <a:p>
            <a:pPr algn="l"/>
            <a:r>
              <a:rPr sz="1800" b="1" i="0">
                <a:solidFill>
                  <a:srgbClr val="000000"/>
                </a:solidFill>
                <a:latin typeface="Arial"/>
              </a:rPr>
              <a:t>Answer</a:t>
            </a:r>
          </a:p>
        </p:txBody>
      </p:sp>
      <p:sp>
        <p:nvSpPr>
          <p:cNvPr id="37" name="TextBox 36"/>
          <p:cNvSpPr txBox="1"/>
          <p:nvPr/>
        </p:nvSpPr>
        <p:spPr>
          <a:xfrm>
            <a:off x="9475241" y="4983480"/>
            <a:ext cx="1939213" cy="457200"/>
          </a:xfrm>
          <a:prstGeom prst="rect">
            <a:avLst/>
          </a:prstGeom>
          <a:noFill/>
        </p:spPr>
        <p:txBody>
          <a:bodyPr wrap="square" lIns="0" tIns="0" rIns="0" bIns="0" anchor="t">
            <a:spAutoFit/>
          </a:bodyPr>
          <a:lstStyle/>
          <a:p>
            <a:pPr algn="l"/>
            <a:r>
              <a:rPr sz="1400" b="0" i="0">
                <a:solidFill>
                  <a:srgbClr val="3C3C3C"/>
                </a:solidFill>
                <a:latin typeface="Arial"/>
              </a:rPr>
              <a:t>With sources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03 · HOW</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Architecture</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274320"/>
          </a:xfrm>
          <a:prstGeom prst="rect">
            <a:avLst/>
          </a:prstGeom>
          <a:noFill/>
        </p:spPr>
        <p:txBody>
          <a:bodyPr wrap="square" lIns="0" tIns="0" rIns="0" bIns="0" anchor="t">
            <a:spAutoFit/>
          </a:bodyPr>
          <a:lstStyle/>
          <a:p>
            <a:pPr algn="r"/>
            <a:r>
              <a:rPr sz="1000" b="0" i="0">
                <a:solidFill>
                  <a:srgbClr val="666666"/>
                </a:solidFill>
                <a:latin typeface="Arial"/>
              </a:rPr>
              <a:t>09</a:t>
            </a:r>
          </a:p>
        </p:txBody>
      </p:sp>
      <p:sp>
        <p:nvSpPr>
          <p:cNvPr id="6" name="Rounded Rectangle 5"/>
          <p:cNvSpPr/>
          <p:nvPr/>
        </p:nvSpPr>
        <p:spPr>
          <a:xfrm>
            <a:off x="548640" y="1371600"/>
            <a:ext cx="5486400" cy="4800600"/>
          </a:xfrm>
          <a:prstGeom prst="roundRect">
            <a:avLst>
              <a:gd name="adj" fmla="val 3000"/>
            </a:avLst>
          </a:prstGeom>
          <a:solidFill>
            <a:srgbClr val="FAFAFA"/>
          </a:solidFill>
          <a:ln w="19050">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1463040"/>
            <a:ext cx="3657600" cy="274320"/>
          </a:xfrm>
          <a:prstGeom prst="rect">
            <a:avLst/>
          </a:prstGeom>
          <a:noFill/>
        </p:spPr>
        <p:txBody>
          <a:bodyPr wrap="square" lIns="0" tIns="0" rIns="0" bIns="0" anchor="t">
            <a:spAutoFit/>
          </a:bodyPr>
          <a:lstStyle/>
          <a:p>
            <a:pPr algn="l"/>
            <a:r>
              <a:rPr sz="1100" b="1" i="0" spc="200">
                <a:solidFill>
                  <a:srgbClr val="666666"/>
                </a:solidFill>
                <a:latin typeface="Arial"/>
              </a:rPr>
              <a:t>LOCAL · INTERN LAPTOP</a:t>
            </a:r>
          </a:p>
        </p:txBody>
      </p:sp>
      <p:sp>
        <p:nvSpPr>
          <p:cNvPr id="8" name="Rounded Rectangle 7"/>
          <p:cNvSpPr/>
          <p:nvPr/>
        </p:nvSpPr>
        <p:spPr>
          <a:xfrm>
            <a:off x="6355080" y="1371600"/>
            <a:ext cx="5303520" cy="4800600"/>
          </a:xfrm>
          <a:prstGeom prst="roundRect">
            <a:avLst>
              <a:gd name="adj" fmla="val 3000"/>
            </a:avLst>
          </a:prstGeom>
          <a:solidFill>
            <a:srgbClr val="F3E6FF"/>
          </a:solidFill>
          <a:ln w="1905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537960" y="1463040"/>
            <a:ext cx="3657600" cy="274320"/>
          </a:xfrm>
          <a:prstGeom prst="rect">
            <a:avLst/>
          </a:prstGeom>
          <a:noFill/>
        </p:spPr>
        <p:txBody>
          <a:bodyPr wrap="square" lIns="0" tIns="0" rIns="0" bIns="0" anchor="t">
            <a:spAutoFit/>
          </a:bodyPr>
          <a:lstStyle/>
          <a:p>
            <a:pPr algn="l"/>
            <a:r>
              <a:rPr sz="1100" b="1" i="0" spc="200">
                <a:solidFill>
                  <a:srgbClr val="A100FF"/>
                </a:solidFill>
                <a:latin typeface="Arial"/>
              </a:rPr>
              <a:t>AZURE</a:t>
            </a:r>
          </a:p>
        </p:txBody>
      </p:sp>
      <p:sp>
        <p:nvSpPr>
          <p:cNvPr id="10" name="Rounded Rectangle 9"/>
          <p:cNvSpPr/>
          <p:nvPr/>
        </p:nvSpPr>
        <p:spPr>
          <a:xfrm>
            <a:off x="822960" y="1783080"/>
            <a:ext cx="2103120" cy="822960"/>
          </a:xfrm>
          <a:prstGeom prst="roundRect">
            <a:avLst>
              <a:gd name="adj" fmla="val 8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14400" y="1920240"/>
            <a:ext cx="1920239" cy="274320"/>
          </a:xfrm>
          <a:prstGeom prst="rect">
            <a:avLst/>
          </a:prstGeom>
          <a:noFill/>
        </p:spPr>
        <p:txBody>
          <a:bodyPr wrap="square" lIns="0" tIns="0" rIns="0" bIns="0" anchor="t">
            <a:spAutoFit/>
          </a:bodyPr>
          <a:lstStyle/>
          <a:p>
            <a:pPr algn="ctr"/>
            <a:r>
              <a:rPr sz="1400" b="1" i="0">
                <a:solidFill>
                  <a:srgbClr val="000000"/>
                </a:solidFill>
                <a:latin typeface="Arial"/>
              </a:rPr>
              <a:t>Streamlit chat UI</a:t>
            </a:r>
          </a:p>
        </p:txBody>
      </p:sp>
      <p:sp>
        <p:nvSpPr>
          <p:cNvPr id="12" name="TextBox 11"/>
          <p:cNvSpPr txBox="1"/>
          <p:nvPr/>
        </p:nvSpPr>
        <p:spPr>
          <a:xfrm>
            <a:off x="914400" y="2212848"/>
            <a:ext cx="1920239" cy="274320"/>
          </a:xfrm>
          <a:prstGeom prst="rect">
            <a:avLst/>
          </a:prstGeom>
          <a:noFill/>
        </p:spPr>
        <p:txBody>
          <a:bodyPr wrap="square" lIns="0" tIns="0" rIns="0" bIns="0" anchor="t">
            <a:spAutoFit/>
          </a:bodyPr>
          <a:lstStyle/>
          <a:p>
            <a:pPr algn="ctr"/>
            <a:r>
              <a:rPr sz="1100" b="0" i="0">
                <a:solidFill>
                  <a:srgbClr val="3C3C3C"/>
                </a:solidFill>
                <a:latin typeface="Arial"/>
              </a:rPr>
              <a:t>employee asks a question</a:t>
            </a:r>
          </a:p>
        </p:txBody>
      </p:sp>
      <p:sp>
        <p:nvSpPr>
          <p:cNvPr id="13" name="Rounded Rectangle 12"/>
          <p:cNvSpPr/>
          <p:nvPr/>
        </p:nvSpPr>
        <p:spPr>
          <a:xfrm>
            <a:off x="3200400" y="2697480"/>
            <a:ext cx="2194560" cy="1188720"/>
          </a:xfrm>
          <a:prstGeom prst="roundRect">
            <a:avLst>
              <a:gd name="adj" fmla="val 8000"/>
            </a:avLst>
          </a:prstGeom>
          <a:solidFill>
            <a:srgbClr val="FFFFFF"/>
          </a:solidFill>
          <a:ln w="254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246120" y="2761488"/>
            <a:ext cx="2103120" cy="274320"/>
          </a:xfrm>
          <a:prstGeom prst="rect">
            <a:avLst/>
          </a:prstGeom>
          <a:noFill/>
        </p:spPr>
        <p:txBody>
          <a:bodyPr wrap="square" lIns="0" tIns="0" rIns="0" bIns="0" anchor="t">
            <a:spAutoFit/>
          </a:bodyPr>
          <a:lstStyle/>
          <a:p>
            <a:pPr algn="ctr"/>
            <a:r>
              <a:rPr sz="1300" b="1" i="0">
                <a:solidFill>
                  <a:srgbClr val="000000"/>
                </a:solidFill>
                <a:latin typeface="Arial"/>
              </a:rPr>
              <a:t>Agent tools (Python)</a:t>
            </a:r>
          </a:p>
        </p:txBody>
      </p:sp>
      <p:sp>
        <p:nvSpPr>
          <p:cNvPr id="15" name="TextBox 14"/>
          <p:cNvSpPr txBox="1"/>
          <p:nvPr/>
        </p:nvSpPr>
        <p:spPr>
          <a:xfrm>
            <a:off x="3246120" y="3063240"/>
            <a:ext cx="2103120" cy="256032"/>
          </a:xfrm>
          <a:prstGeom prst="rect">
            <a:avLst/>
          </a:prstGeom>
          <a:noFill/>
        </p:spPr>
        <p:txBody>
          <a:bodyPr wrap="square" lIns="0" tIns="0" rIns="0" bIns="0" anchor="t">
            <a:spAutoFit/>
          </a:bodyPr>
          <a:lstStyle/>
          <a:p>
            <a:pPr algn="ctr"/>
            <a:r>
              <a:rPr sz="1100" b="1" i="0">
                <a:solidFill>
                  <a:srgbClr val="A100FF"/>
                </a:solidFill>
                <a:latin typeface="Courier New"/>
              </a:rPr>
              <a:t>search_documents</a:t>
            </a:r>
          </a:p>
        </p:txBody>
      </p:sp>
      <p:sp>
        <p:nvSpPr>
          <p:cNvPr id="16" name="TextBox 15"/>
          <p:cNvSpPr txBox="1"/>
          <p:nvPr/>
        </p:nvSpPr>
        <p:spPr>
          <a:xfrm>
            <a:off x="3246120" y="3319272"/>
            <a:ext cx="2103120" cy="256032"/>
          </a:xfrm>
          <a:prstGeom prst="rect">
            <a:avLst/>
          </a:prstGeom>
          <a:noFill/>
        </p:spPr>
        <p:txBody>
          <a:bodyPr wrap="square" lIns="0" tIns="0" rIns="0" bIns="0" anchor="t">
            <a:spAutoFit/>
          </a:bodyPr>
          <a:lstStyle/>
          <a:p>
            <a:pPr algn="ctr"/>
            <a:r>
              <a:rPr sz="1100" b="1" i="0">
                <a:solidFill>
                  <a:srgbClr val="A100FF"/>
                </a:solidFill>
                <a:latin typeface="Courier New"/>
              </a:rPr>
              <a:t>explore_entity</a:t>
            </a:r>
          </a:p>
        </p:txBody>
      </p:sp>
      <p:sp>
        <p:nvSpPr>
          <p:cNvPr id="17" name="TextBox 16"/>
          <p:cNvSpPr txBox="1"/>
          <p:nvPr/>
        </p:nvSpPr>
        <p:spPr>
          <a:xfrm>
            <a:off x="3246120" y="3575304"/>
            <a:ext cx="2103120" cy="256032"/>
          </a:xfrm>
          <a:prstGeom prst="rect">
            <a:avLst/>
          </a:prstGeom>
          <a:noFill/>
        </p:spPr>
        <p:txBody>
          <a:bodyPr wrap="square" lIns="0" tIns="0" rIns="0" bIns="0" anchor="t">
            <a:spAutoFit/>
          </a:bodyPr>
          <a:lstStyle/>
          <a:p>
            <a:pPr algn="ctr"/>
            <a:r>
              <a:rPr sz="1100" b="1" i="0">
                <a:solidFill>
                  <a:srgbClr val="A100FF"/>
                </a:solidFill>
                <a:latin typeface="Courier New"/>
              </a:rPr>
              <a:t>query_graph</a:t>
            </a:r>
          </a:p>
        </p:txBody>
      </p:sp>
      <p:sp>
        <p:nvSpPr>
          <p:cNvPr id="18" name="Rounded Rectangle 17"/>
          <p:cNvSpPr/>
          <p:nvPr/>
        </p:nvSpPr>
        <p:spPr>
          <a:xfrm>
            <a:off x="3200400" y="4114800"/>
            <a:ext cx="2194560" cy="640080"/>
          </a:xfrm>
          <a:prstGeom prst="roundRect">
            <a:avLst>
              <a:gd name="adj" fmla="val 8000"/>
            </a:avLst>
          </a:prstGeom>
          <a:solidFill>
            <a:srgbClr val="F2F2F2"/>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291840" y="4160520"/>
            <a:ext cx="2011679" cy="274320"/>
          </a:xfrm>
          <a:prstGeom prst="rect">
            <a:avLst/>
          </a:prstGeom>
          <a:noFill/>
        </p:spPr>
        <p:txBody>
          <a:bodyPr wrap="square" lIns="0" tIns="0" rIns="0" bIns="0" anchor="t">
            <a:spAutoFit/>
          </a:bodyPr>
          <a:lstStyle/>
          <a:p>
            <a:pPr algn="ctr"/>
            <a:r>
              <a:rPr sz="1400" b="1" i="0">
                <a:solidFill>
                  <a:srgbClr val="000000"/>
                </a:solidFill>
                <a:latin typeface="Arial"/>
              </a:rPr>
              <a:t>Neo4j (Docker)</a:t>
            </a:r>
          </a:p>
        </p:txBody>
      </p:sp>
      <p:sp>
        <p:nvSpPr>
          <p:cNvPr id="20" name="TextBox 19"/>
          <p:cNvSpPr txBox="1"/>
          <p:nvPr/>
        </p:nvSpPr>
        <p:spPr>
          <a:xfrm>
            <a:off x="3291840" y="4453127"/>
            <a:ext cx="2011679" cy="274320"/>
          </a:xfrm>
          <a:prstGeom prst="rect">
            <a:avLst/>
          </a:prstGeom>
          <a:noFill/>
        </p:spPr>
        <p:txBody>
          <a:bodyPr wrap="square" lIns="0" tIns="0" rIns="0" bIns="0" anchor="t">
            <a:spAutoFit/>
          </a:bodyPr>
          <a:lstStyle/>
          <a:p>
            <a:pPr algn="ctr"/>
            <a:r>
              <a:rPr sz="1100" b="0" i="0">
                <a:solidFill>
                  <a:srgbClr val="3C3C3C"/>
                </a:solidFill>
                <a:latin typeface="Arial"/>
              </a:rPr>
              <a:t>graph + vector index</a:t>
            </a:r>
          </a:p>
        </p:txBody>
      </p:sp>
      <p:sp>
        <p:nvSpPr>
          <p:cNvPr id="21" name="Rounded Rectangle 20"/>
          <p:cNvSpPr/>
          <p:nvPr/>
        </p:nvSpPr>
        <p:spPr>
          <a:xfrm>
            <a:off x="822960" y="5120640"/>
            <a:ext cx="2103120" cy="777240"/>
          </a:xfrm>
          <a:prstGeom prst="roundRect">
            <a:avLst>
              <a:gd name="adj" fmla="val 8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14400" y="5234940"/>
            <a:ext cx="1920239" cy="274320"/>
          </a:xfrm>
          <a:prstGeom prst="rect">
            <a:avLst/>
          </a:prstGeom>
          <a:noFill/>
        </p:spPr>
        <p:txBody>
          <a:bodyPr wrap="square" lIns="0" tIns="0" rIns="0" bIns="0" anchor="t">
            <a:spAutoFit/>
          </a:bodyPr>
          <a:lstStyle/>
          <a:p>
            <a:pPr algn="ctr"/>
            <a:r>
              <a:rPr sz="1400" b="1" i="0">
                <a:solidFill>
                  <a:srgbClr val="000000"/>
                </a:solidFill>
                <a:latin typeface="Arial"/>
              </a:rPr>
              <a:t>Zava documents</a:t>
            </a:r>
          </a:p>
        </p:txBody>
      </p:sp>
      <p:sp>
        <p:nvSpPr>
          <p:cNvPr id="23" name="TextBox 22"/>
          <p:cNvSpPr txBox="1"/>
          <p:nvPr/>
        </p:nvSpPr>
        <p:spPr>
          <a:xfrm>
            <a:off x="914400" y="5527547"/>
            <a:ext cx="1920239" cy="274320"/>
          </a:xfrm>
          <a:prstGeom prst="rect">
            <a:avLst/>
          </a:prstGeom>
          <a:noFill/>
        </p:spPr>
        <p:txBody>
          <a:bodyPr wrap="square" lIns="0" tIns="0" rIns="0" bIns="0" anchor="t">
            <a:spAutoFit/>
          </a:bodyPr>
          <a:lstStyle/>
          <a:p>
            <a:pPr algn="ctr"/>
            <a:r>
              <a:rPr sz="1100" b="0" i="0">
                <a:solidFill>
                  <a:srgbClr val="3C3C3C"/>
                </a:solidFill>
                <a:latin typeface="Arial"/>
              </a:rPr>
              <a:t>7 files · data/raw/</a:t>
            </a:r>
          </a:p>
        </p:txBody>
      </p:sp>
      <p:sp>
        <p:nvSpPr>
          <p:cNvPr id="24" name="Rounded Rectangle 23"/>
          <p:cNvSpPr/>
          <p:nvPr/>
        </p:nvSpPr>
        <p:spPr>
          <a:xfrm>
            <a:off x="3200400" y="4983480"/>
            <a:ext cx="2194560" cy="1051560"/>
          </a:xfrm>
          <a:prstGeom prst="roundRect">
            <a:avLst>
              <a:gd name="adj" fmla="val 8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3246120" y="5029200"/>
            <a:ext cx="2103120" cy="274320"/>
          </a:xfrm>
          <a:prstGeom prst="rect">
            <a:avLst/>
          </a:prstGeom>
          <a:noFill/>
        </p:spPr>
        <p:txBody>
          <a:bodyPr wrap="square" lIns="0" tIns="0" rIns="0" bIns="0" anchor="t">
            <a:spAutoFit/>
          </a:bodyPr>
          <a:lstStyle/>
          <a:p>
            <a:pPr algn="ctr"/>
            <a:r>
              <a:rPr sz="1300" b="1" i="0">
                <a:solidFill>
                  <a:srgbClr val="000000"/>
                </a:solidFill>
                <a:latin typeface="Courier New"/>
              </a:rPr>
              <a:t>build_graph.py</a:t>
            </a:r>
          </a:p>
        </p:txBody>
      </p:sp>
      <p:sp>
        <p:nvSpPr>
          <p:cNvPr id="26" name="TextBox 25"/>
          <p:cNvSpPr txBox="1"/>
          <p:nvPr/>
        </p:nvSpPr>
        <p:spPr>
          <a:xfrm>
            <a:off x="3246120" y="5321808"/>
            <a:ext cx="2103120" cy="685800"/>
          </a:xfrm>
          <a:prstGeom prst="rect">
            <a:avLst/>
          </a:prstGeom>
          <a:noFill/>
        </p:spPr>
        <p:txBody>
          <a:bodyPr wrap="square" lIns="0" tIns="0" rIns="0" bIns="0" anchor="t">
            <a:spAutoFit/>
          </a:bodyPr>
          <a:lstStyle/>
          <a:p>
            <a:pPr algn="ctr">
              <a:lnSpc>
                <a:spcPct val="115000"/>
              </a:lnSpc>
            </a:pPr>
            <a:r>
              <a:rPr sz="1100" b="0" i="0">
                <a:solidFill>
                  <a:srgbClr val="3C3C3C"/>
                </a:solidFill>
                <a:latin typeface="Arial"/>
              </a:rPr>
              <a:t>① read  ② chunk  ③ embed</a:t>
            </a:r>
          </a:p>
          <a:p>
            <a:pPr algn="ctr">
              <a:lnSpc>
                <a:spcPct val="115000"/>
              </a:lnSpc>
            </a:pPr>
            <a:r>
              <a:rPr sz="1100" b="0" i="0">
                <a:solidFill>
                  <a:srgbClr val="3C3C3C"/>
                </a:solidFill>
                <a:latin typeface="Arial"/>
              </a:rPr>
              <a:t>④ extract  ⑤ save</a:t>
            </a:r>
          </a:p>
        </p:txBody>
      </p:sp>
      <p:sp>
        <p:nvSpPr>
          <p:cNvPr id="27" name="Rounded Rectangle 26"/>
          <p:cNvSpPr/>
          <p:nvPr/>
        </p:nvSpPr>
        <p:spPr>
          <a:xfrm>
            <a:off x="6583680" y="1783080"/>
            <a:ext cx="4846320" cy="2651760"/>
          </a:xfrm>
          <a:prstGeom prst="roundRect">
            <a:avLst>
              <a:gd name="adj" fmla="val 8000"/>
            </a:avLst>
          </a:prstGeom>
          <a:solidFill>
            <a:srgbClr val="FFFFFF"/>
          </a:solidFill>
          <a:ln w="1905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720840" y="1828800"/>
            <a:ext cx="3657600" cy="274320"/>
          </a:xfrm>
          <a:prstGeom prst="rect">
            <a:avLst/>
          </a:prstGeom>
          <a:noFill/>
        </p:spPr>
        <p:txBody>
          <a:bodyPr wrap="square" lIns="0" tIns="0" rIns="0" bIns="0" anchor="t">
            <a:spAutoFit/>
          </a:bodyPr>
          <a:lstStyle/>
          <a:p>
            <a:pPr algn="l"/>
            <a:r>
              <a:rPr sz="1200" b="1" i="0">
                <a:solidFill>
                  <a:srgbClr val="A100FF"/>
                </a:solidFill>
                <a:latin typeface="Arial"/>
              </a:rPr>
              <a:t>Microsoft Foundry project</a:t>
            </a:r>
          </a:p>
        </p:txBody>
      </p:sp>
      <p:sp>
        <p:nvSpPr>
          <p:cNvPr id="29" name="Rounded Rectangle 28"/>
          <p:cNvSpPr/>
          <p:nvPr/>
        </p:nvSpPr>
        <p:spPr>
          <a:xfrm>
            <a:off x="6812280" y="2148840"/>
            <a:ext cx="4389120" cy="868680"/>
          </a:xfrm>
          <a:prstGeom prst="roundRect">
            <a:avLst>
              <a:gd name="adj" fmla="val 8000"/>
            </a:avLst>
          </a:prstGeom>
          <a:solidFill>
            <a:srgbClr val="F3E6FF"/>
          </a:solidFill>
          <a:ln w="254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903720" y="2308860"/>
            <a:ext cx="4206240" cy="274320"/>
          </a:xfrm>
          <a:prstGeom prst="rect">
            <a:avLst/>
          </a:prstGeom>
          <a:noFill/>
        </p:spPr>
        <p:txBody>
          <a:bodyPr wrap="square" lIns="0" tIns="0" rIns="0" bIns="0" anchor="t">
            <a:spAutoFit/>
          </a:bodyPr>
          <a:lstStyle/>
          <a:p>
            <a:pPr algn="ctr"/>
            <a:r>
              <a:rPr sz="1600" b="1" i="0">
                <a:solidFill>
                  <a:srgbClr val="000000"/>
                </a:solidFill>
                <a:latin typeface="Arial"/>
              </a:rPr>
              <a:t>Zava Agent</a:t>
            </a:r>
          </a:p>
        </p:txBody>
      </p:sp>
      <p:sp>
        <p:nvSpPr>
          <p:cNvPr id="31" name="TextBox 30"/>
          <p:cNvSpPr txBox="1"/>
          <p:nvPr/>
        </p:nvSpPr>
        <p:spPr>
          <a:xfrm>
            <a:off x="6903720" y="2601468"/>
            <a:ext cx="4206240" cy="274320"/>
          </a:xfrm>
          <a:prstGeom prst="rect">
            <a:avLst/>
          </a:prstGeom>
          <a:noFill/>
        </p:spPr>
        <p:txBody>
          <a:bodyPr wrap="square" lIns="0" tIns="0" rIns="0" bIns="0" anchor="t">
            <a:spAutoFit/>
          </a:bodyPr>
          <a:lstStyle/>
          <a:p>
            <a:pPr algn="ctr"/>
            <a:r>
              <a:rPr sz="1100" b="0" i="0">
                <a:solidFill>
                  <a:srgbClr val="3C3C3C"/>
                </a:solidFill>
                <a:latin typeface="Arial"/>
              </a:rPr>
              <a:t>Foundry Agent Service · picks tools, writes answers</a:t>
            </a:r>
          </a:p>
        </p:txBody>
      </p:sp>
      <p:sp>
        <p:nvSpPr>
          <p:cNvPr id="32" name="Rounded Rectangle 31"/>
          <p:cNvSpPr/>
          <p:nvPr/>
        </p:nvSpPr>
        <p:spPr>
          <a:xfrm>
            <a:off x="6812280" y="3383280"/>
            <a:ext cx="2103120" cy="868680"/>
          </a:xfrm>
          <a:prstGeom prst="roundRect">
            <a:avLst>
              <a:gd name="adj" fmla="val 8000"/>
            </a:avLst>
          </a:prstGeom>
          <a:solidFill>
            <a:srgbClr val="FFFFFF"/>
          </a:solidFill>
          <a:ln w="1905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903720" y="3543300"/>
            <a:ext cx="1920239" cy="274320"/>
          </a:xfrm>
          <a:prstGeom prst="rect">
            <a:avLst/>
          </a:prstGeom>
          <a:noFill/>
        </p:spPr>
        <p:txBody>
          <a:bodyPr wrap="square" lIns="0" tIns="0" rIns="0" bIns="0" anchor="t">
            <a:spAutoFit/>
          </a:bodyPr>
          <a:lstStyle/>
          <a:p>
            <a:pPr algn="ctr"/>
            <a:r>
              <a:rPr sz="1400" b="1" i="0">
                <a:solidFill>
                  <a:srgbClr val="000000"/>
                </a:solidFill>
                <a:latin typeface="Arial"/>
              </a:rPr>
              <a:t>Chat model</a:t>
            </a:r>
          </a:p>
        </p:txBody>
      </p:sp>
      <p:sp>
        <p:nvSpPr>
          <p:cNvPr id="34" name="TextBox 33"/>
          <p:cNvSpPr txBox="1"/>
          <p:nvPr/>
        </p:nvSpPr>
        <p:spPr>
          <a:xfrm>
            <a:off x="6903720" y="3835907"/>
            <a:ext cx="1920239" cy="274320"/>
          </a:xfrm>
          <a:prstGeom prst="rect">
            <a:avLst/>
          </a:prstGeom>
          <a:noFill/>
        </p:spPr>
        <p:txBody>
          <a:bodyPr wrap="square" lIns="0" tIns="0" rIns="0" bIns="0" anchor="t">
            <a:spAutoFit/>
          </a:bodyPr>
          <a:lstStyle/>
          <a:p>
            <a:pPr algn="ctr"/>
            <a:r>
              <a:rPr sz="1100" b="0" i="0">
                <a:solidFill>
                  <a:srgbClr val="3C3C3C"/>
                </a:solidFill>
                <a:latin typeface="Arial"/>
              </a:rPr>
              <a:t>extract · Text2Cypher · answer</a:t>
            </a:r>
          </a:p>
        </p:txBody>
      </p:sp>
      <p:sp>
        <p:nvSpPr>
          <p:cNvPr id="35" name="Rounded Rectangle 34"/>
          <p:cNvSpPr/>
          <p:nvPr/>
        </p:nvSpPr>
        <p:spPr>
          <a:xfrm>
            <a:off x="9098280" y="3383280"/>
            <a:ext cx="2103120" cy="868680"/>
          </a:xfrm>
          <a:prstGeom prst="roundRect">
            <a:avLst>
              <a:gd name="adj" fmla="val 8000"/>
            </a:avLst>
          </a:prstGeom>
          <a:solidFill>
            <a:srgbClr val="FFFFFF"/>
          </a:solidFill>
          <a:ln w="1905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9189719" y="3543300"/>
            <a:ext cx="1920239" cy="274320"/>
          </a:xfrm>
          <a:prstGeom prst="rect">
            <a:avLst/>
          </a:prstGeom>
          <a:noFill/>
        </p:spPr>
        <p:txBody>
          <a:bodyPr wrap="square" lIns="0" tIns="0" rIns="0" bIns="0" anchor="t">
            <a:spAutoFit/>
          </a:bodyPr>
          <a:lstStyle/>
          <a:p>
            <a:pPr algn="ctr"/>
            <a:r>
              <a:rPr sz="1400" b="1" i="0">
                <a:solidFill>
                  <a:srgbClr val="000000"/>
                </a:solidFill>
                <a:latin typeface="Arial"/>
              </a:rPr>
              <a:t>Embedding model</a:t>
            </a:r>
          </a:p>
        </p:txBody>
      </p:sp>
      <p:sp>
        <p:nvSpPr>
          <p:cNvPr id="37" name="TextBox 36"/>
          <p:cNvSpPr txBox="1"/>
          <p:nvPr/>
        </p:nvSpPr>
        <p:spPr>
          <a:xfrm>
            <a:off x="9189719" y="3835907"/>
            <a:ext cx="1920239" cy="274320"/>
          </a:xfrm>
          <a:prstGeom prst="rect">
            <a:avLst/>
          </a:prstGeom>
          <a:noFill/>
        </p:spPr>
        <p:txBody>
          <a:bodyPr wrap="square" lIns="0" tIns="0" rIns="0" bIns="0" anchor="t">
            <a:spAutoFit/>
          </a:bodyPr>
          <a:lstStyle/>
          <a:p>
            <a:pPr algn="ctr"/>
            <a:r>
              <a:rPr sz="1100" b="0" i="0">
                <a:solidFill>
                  <a:srgbClr val="3C3C3C"/>
                </a:solidFill>
                <a:latin typeface="Arial"/>
              </a:rPr>
              <a:t>text → vectors</a:t>
            </a:r>
          </a:p>
        </p:txBody>
      </p:sp>
      <p:sp>
        <p:nvSpPr>
          <p:cNvPr id="38" name="Rounded Rectangle 37"/>
          <p:cNvSpPr/>
          <p:nvPr/>
        </p:nvSpPr>
        <p:spPr>
          <a:xfrm>
            <a:off x="6583680" y="5074920"/>
            <a:ext cx="4846320" cy="914400"/>
          </a:xfrm>
          <a:prstGeom prst="roundRect">
            <a:avLst>
              <a:gd name="adj" fmla="val 8000"/>
            </a:avLst>
          </a:prstGeom>
          <a:solidFill>
            <a:srgbClr val="FFFFFF"/>
          </a:solidFill>
          <a:ln w="1905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675120" y="5257800"/>
            <a:ext cx="4663440" cy="274320"/>
          </a:xfrm>
          <a:prstGeom prst="rect">
            <a:avLst/>
          </a:prstGeom>
          <a:noFill/>
        </p:spPr>
        <p:txBody>
          <a:bodyPr wrap="square" lIns="0" tIns="0" rIns="0" bIns="0" anchor="t">
            <a:spAutoFit/>
          </a:bodyPr>
          <a:lstStyle/>
          <a:p>
            <a:pPr algn="ctr"/>
            <a:r>
              <a:rPr sz="1500" b="1" i="0">
                <a:solidFill>
                  <a:srgbClr val="000000"/>
                </a:solidFill>
                <a:latin typeface="Arial"/>
              </a:rPr>
              <a:t>Azure AI Document Intelligence</a:t>
            </a:r>
          </a:p>
        </p:txBody>
      </p:sp>
      <p:sp>
        <p:nvSpPr>
          <p:cNvPr id="40" name="TextBox 39"/>
          <p:cNvSpPr txBox="1"/>
          <p:nvPr/>
        </p:nvSpPr>
        <p:spPr>
          <a:xfrm>
            <a:off x="6675120" y="5550407"/>
            <a:ext cx="4663440" cy="274320"/>
          </a:xfrm>
          <a:prstGeom prst="rect">
            <a:avLst/>
          </a:prstGeom>
          <a:noFill/>
        </p:spPr>
        <p:txBody>
          <a:bodyPr wrap="square" lIns="0" tIns="0" rIns="0" bIns="0" anchor="t">
            <a:spAutoFit/>
          </a:bodyPr>
          <a:lstStyle/>
          <a:p>
            <a:pPr algn="ctr"/>
            <a:r>
              <a:rPr sz="1100" b="0" i="0">
                <a:solidFill>
                  <a:srgbClr val="3C3C3C"/>
                </a:solidFill>
                <a:latin typeface="Arial"/>
              </a:rPr>
              <a:t>layout model · PDF → Markdown</a:t>
            </a:r>
          </a:p>
        </p:txBody>
      </p:sp>
      <p:cxnSp>
        <p:nvCxnSpPr>
          <p:cNvPr id="41" name="Connector 40"/>
          <p:cNvCxnSpPr/>
          <p:nvPr/>
        </p:nvCxnSpPr>
        <p:spPr>
          <a:xfrm>
            <a:off x="2926080" y="2212848"/>
            <a:ext cx="3867912" cy="0"/>
          </a:xfrm>
          <a:prstGeom prst="line">
            <a:avLst/>
          </a:prstGeom>
          <a:ln w="28575">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200400" y="1938528"/>
            <a:ext cx="2194560" cy="256032"/>
          </a:xfrm>
          <a:prstGeom prst="rect">
            <a:avLst/>
          </a:prstGeom>
          <a:noFill/>
        </p:spPr>
        <p:txBody>
          <a:bodyPr wrap="square" lIns="0" tIns="0" rIns="0" bIns="0" anchor="t">
            <a:spAutoFit/>
          </a:bodyPr>
          <a:lstStyle/>
          <a:p>
            <a:pPr algn="ctr"/>
            <a:r>
              <a:rPr sz="1100" b="1" i="0">
                <a:solidFill>
                  <a:srgbClr val="A100FF"/>
                </a:solidFill>
                <a:latin typeface="Arial"/>
              </a:rPr>
              <a:t>question</a:t>
            </a:r>
          </a:p>
        </p:txBody>
      </p:sp>
      <p:cxnSp>
        <p:nvCxnSpPr>
          <p:cNvPr id="43" name="Connector 42"/>
          <p:cNvCxnSpPr/>
          <p:nvPr/>
        </p:nvCxnSpPr>
        <p:spPr>
          <a:xfrm flipH="1">
            <a:off x="2944368" y="2560320"/>
            <a:ext cx="3849624" cy="0"/>
          </a:xfrm>
          <a:prstGeom prst="line">
            <a:avLst/>
          </a:prstGeom>
          <a:ln w="28575">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200400" y="2286000"/>
            <a:ext cx="2194560" cy="256032"/>
          </a:xfrm>
          <a:prstGeom prst="rect">
            <a:avLst/>
          </a:prstGeom>
          <a:noFill/>
        </p:spPr>
        <p:txBody>
          <a:bodyPr wrap="square" lIns="0" tIns="0" rIns="0" bIns="0" anchor="t">
            <a:spAutoFit/>
          </a:bodyPr>
          <a:lstStyle/>
          <a:p>
            <a:pPr algn="ctr"/>
            <a:r>
              <a:rPr sz="1100" b="1" i="0">
                <a:solidFill>
                  <a:srgbClr val="A100FF"/>
                </a:solidFill>
                <a:latin typeface="Arial"/>
              </a:rPr>
              <a:t>answer + sources</a:t>
            </a:r>
          </a:p>
        </p:txBody>
      </p:sp>
      <p:cxnSp>
        <p:nvCxnSpPr>
          <p:cNvPr id="45" name="Connector 44"/>
          <p:cNvCxnSpPr/>
          <p:nvPr/>
        </p:nvCxnSpPr>
        <p:spPr>
          <a:xfrm>
            <a:off x="5413248" y="2880360"/>
            <a:ext cx="1380744" cy="0"/>
          </a:xfrm>
          <a:prstGeom prst="line">
            <a:avLst/>
          </a:prstGeom>
          <a:ln w="28575">
            <a:solidFill>
              <a:srgbClr val="A100FF"/>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422392" y="2971800"/>
            <a:ext cx="594360" cy="457200"/>
          </a:xfrm>
          <a:prstGeom prst="rect">
            <a:avLst/>
          </a:prstGeom>
          <a:noFill/>
        </p:spPr>
        <p:txBody>
          <a:bodyPr wrap="square" lIns="0" tIns="0" rIns="0" bIns="0" anchor="t">
            <a:spAutoFit/>
          </a:bodyPr>
          <a:lstStyle/>
          <a:p>
            <a:pPr algn="ctr"/>
            <a:r>
              <a:rPr sz="1000" b="1" i="0">
                <a:solidFill>
                  <a:srgbClr val="A100FF"/>
                </a:solidFill>
                <a:latin typeface="Arial"/>
              </a:rPr>
              <a:t>tool calls</a:t>
            </a:r>
          </a:p>
          <a:p>
            <a:pPr algn="ctr"/>
            <a:r>
              <a:rPr sz="1000" b="1" i="0">
                <a:solidFill>
                  <a:srgbClr val="A100FF"/>
                </a:solidFill>
                <a:latin typeface="Arial"/>
              </a:rPr>
              <a:t>⇄ results</a:t>
            </a:r>
          </a:p>
        </p:txBody>
      </p:sp>
      <p:cxnSp>
        <p:nvCxnSpPr>
          <p:cNvPr id="47" name="Connector 46"/>
          <p:cNvCxnSpPr/>
          <p:nvPr/>
        </p:nvCxnSpPr>
        <p:spPr>
          <a:xfrm>
            <a:off x="4297680" y="3904487"/>
            <a:ext cx="0" cy="192025"/>
          </a:xfrm>
          <a:prstGeom prst="line">
            <a:avLst/>
          </a:prstGeom>
          <a:ln w="28575">
            <a:solidFill>
              <a:srgbClr val="A100FF"/>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4389120" y="3886200"/>
            <a:ext cx="1600200" cy="228600"/>
          </a:xfrm>
          <a:prstGeom prst="rect">
            <a:avLst/>
          </a:prstGeom>
          <a:noFill/>
        </p:spPr>
        <p:txBody>
          <a:bodyPr wrap="square" lIns="0" tIns="0" rIns="0" bIns="0" anchor="t">
            <a:spAutoFit/>
          </a:bodyPr>
          <a:lstStyle/>
          <a:p>
            <a:pPr algn="l"/>
            <a:r>
              <a:rPr sz="1000" b="1" i="0">
                <a:solidFill>
                  <a:srgbClr val="A100FF"/>
                </a:solidFill>
                <a:latin typeface="Arial"/>
              </a:rPr>
              <a:t>Cypher (read-only)</a:t>
            </a:r>
          </a:p>
        </p:txBody>
      </p:sp>
      <p:cxnSp>
        <p:nvCxnSpPr>
          <p:cNvPr id="49" name="Connector 48"/>
          <p:cNvCxnSpPr/>
          <p:nvPr/>
        </p:nvCxnSpPr>
        <p:spPr>
          <a:xfrm>
            <a:off x="7863840" y="3017520"/>
            <a:ext cx="0" cy="347472"/>
          </a:xfrm>
          <a:prstGeom prst="line">
            <a:avLst/>
          </a:prstGeom>
          <a:ln w="1905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955279" y="3081528"/>
            <a:ext cx="548640" cy="256032"/>
          </a:xfrm>
          <a:prstGeom prst="rect">
            <a:avLst/>
          </a:prstGeom>
          <a:noFill/>
        </p:spPr>
        <p:txBody>
          <a:bodyPr wrap="square" lIns="0" tIns="0" rIns="0" bIns="0" anchor="t">
            <a:spAutoFit/>
          </a:bodyPr>
          <a:lstStyle/>
          <a:p>
            <a:pPr algn="l"/>
            <a:r>
              <a:rPr sz="1000" b="0" i="0">
                <a:solidFill>
                  <a:srgbClr val="666666"/>
                </a:solidFill>
                <a:latin typeface="Arial"/>
              </a:rPr>
              <a:t>uses</a:t>
            </a:r>
          </a:p>
        </p:txBody>
      </p:sp>
      <p:cxnSp>
        <p:nvCxnSpPr>
          <p:cNvPr id="51" name="Connector 50"/>
          <p:cNvCxnSpPr/>
          <p:nvPr/>
        </p:nvCxnSpPr>
        <p:spPr>
          <a:xfrm>
            <a:off x="2926080" y="5504688"/>
            <a:ext cx="256032" cy="0"/>
          </a:xfrm>
          <a:prstGeom prst="line">
            <a:avLst/>
          </a:prstGeom>
          <a:ln w="285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5413248" y="5715000"/>
            <a:ext cx="1152144" cy="0"/>
          </a:xfrm>
          <a:prstGeom prst="line">
            <a:avLst/>
          </a:prstGeom>
          <a:ln w="28575">
            <a:solidFill>
              <a:srgbClr val="00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760720" y="5440680"/>
            <a:ext cx="457200" cy="256032"/>
          </a:xfrm>
          <a:prstGeom prst="rect">
            <a:avLst/>
          </a:prstGeom>
          <a:noFill/>
        </p:spPr>
        <p:txBody>
          <a:bodyPr wrap="square" lIns="0" tIns="0" rIns="0" bIns="0" anchor="t">
            <a:spAutoFit/>
          </a:bodyPr>
          <a:lstStyle/>
          <a:p>
            <a:pPr algn="ctr"/>
            <a:r>
              <a:rPr sz="1100" b="1" i="0">
                <a:solidFill>
                  <a:srgbClr val="000000"/>
                </a:solidFill>
                <a:latin typeface="Arial"/>
              </a:rPr>
              <a:t>①</a:t>
            </a:r>
          </a:p>
        </p:txBody>
      </p:sp>
      <p:cxnSp>
        <p:nvCxnSpPr>
          <p:cNvPr id="54" name="Connector 53"/>
          <p:cNvCxnSpPr/>
          <p:nvPr/>
        </p:nvCxnSpPr>
        <p:spPr>
          <a:xfrm>
            <a:off x="5394960" y="5166360"/>
            <a:ext cx="804672" cy="0"/>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199632" y="4663440"/>
            <a:ext cx="0" cy="512064"/>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190488" y="4663440"/>
            <a:ext cx="3959352" cy="0"/>
          </a:xfrm>
          <a:prstGeom prst="line">
            <a:avLst/>
          </a:prstGeom>
          <a:ln w="2857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10149840" y="4270248"/>
            <a:ext cx="0" cy="393192"/>
          </a:xfrm>
          <a:prstGeom prst="line">
            <a:avLst/>
          </a:prstGeom>
          <a:ln w="285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863840" y="4270248"/>
            <a:ext cx="0" cy="393192"/>
          </a:xfrm>
          <a:prstGeom prst="line">
            <a:avLst/>
          </a:prstGeom>
          <a:ln w="285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8001000" y="4709160"/>
            <a:ext cx="2103120" cy="256032"/>
          </a:xfrm>
          <a:prstGeom prst="rect">
            <a:avLst/>
          </a:prstGeom>
          <a:noFill/>
        </p:spPr>
        <p:txBody>
          <a:bodyPr wrap="square" lIns="0" tIns="0" rIns="0" bIns="0" anchor="t">
            <a:spAutoFit/>
          </a:bodyPr>
          <a:lstStyle/>
          <a:p>
            <a:pPr algn="l"/>
            <a:r>
              <a:rPr sz="1000" b="1" i="0">
                <a:solidFill>
                  <a:srgbClr val="000000"/>
                </a:solidFill>
                <a:latin typeface="Arial"/>
              </a:rPr>
              <a:t>③ embed · ④ extract</a:t>
            </a:r>
          </a:p>
        </p:txBody>
      </p:sp>
      <p:cxnSp>
        <p:nvCxnSpPr>
          <p:cNvPr id="60" name="Connector 59"/>
          <p:cNvCxnSpPr/>
          <p:nvPr/>
        </p:nvCxnSpPr>
        <p:spPr>
          <a:xfrm flipV="1">
            <a:off x="4297680" y="4773168"/>
            <a:ext cx="0" cy="192024"/>
          </a:xfrm>
          <a:prstGeom prst="line">
            <a:avLst/>
          </a:prstGeom>
          <a:ln w="28575">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389120" y="4754880"/>
            <a:ext cx="914400" cy="228600"/>
          </a:xfrm>
          <a:prstGeom prst="rect">
            <a:avLst/>
          </a:prstGeom>
          <a:noFill/>
        </p:spPr>
        <p:txBody>
          <a:bodyPr wrap="square" lIns="0" tIns="0" rIns="0" bIns="0" anchor="t">
            <a:spAutoFit/>
          </a:bodyPr>
          <a:lstStyle/>
          <a:p>
            <a:pPr algn="l"/>
            <a:r>
              <a:rPr sz="1000" b="1" i="0">
                <a:solidFill>
                  <a:srgbClr val="000000"/>
                </a:solidFill>
                <a:latin typeface="Arial"/>
              </a:rPr>
              <a:t>⑤ save</a:t>
            </a:r>
          </a:p>
        </p:txBody>
      </p:sp>
      <p:cxnSp>
        <p:nvCxnSpPr>
          <p:cNvPr id="62" name="Connector 61"/>
          <p:cNvCxnSpPr/>
          <p:nvPr/>
        </p:nvCxnSpPr>
        <p:spPr>
          <a:xfrm>
            <a:off x="5760720" y="1024128"/>
            <a:ext cx="411480" cy="0"/>
          </a:xfrm>
          <a:prstGeom prst="line">
            <a:avLst/>
          </a:prstGeom>
          <a:ln w="3175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263640" y="914400"/>
            <a:ext cx="3017520" cy="274320"/>
          </a:xfrm>
          <a:prstGeom prst="rect">
            <a:avLst/>
          </a:prstGeom>
          <a:noFill/>
        </p:spPr>
        <p:txBody>
          <a:bodyPr wrap="square" lIns="0" tIns="0" rIns="0" bIns="0" anchor="t">
            <a:spAutoFit/>
          </a:bodyPr>
          <a:lstStyle/>
          <a:p>
            <a:pPr algn="l"/>
            <a:r>
              <a:rPr sz="1100" b="0" i="0">
                <a:solidFill>
                  <a:srgbClr val="3C3C3C"/>
                </a:solidFill>
                <a:latin typeface="Arial"/>
              </a:rPr>
              <a:t>A · Build the knowledge graph (run once)</a:t>
            </a:r>
          </a:p>
        </p:txBody>
      </p:sp>
      <p:cxnSp>
        <p:nvCxnSpPr>
          <p:cNvPr id="64" name="Connector 63"/>
          <p:cNvCxnSpPr/>
          <p:nvPr/>
        </p:nvCxnSpPr>
        <p:spPr>
          <a:xfrm>
            <a:off x="9418320" y="1024128"/>
            <a:ext cx="411480" cy="0"/>
          </a:xfrm>
          <a:prstGeom prst="line">
            <a:avLst/>
          </a:prstGeom>
          <a:ln w="31750">
            <a:solidFill>
              <a:srgbClr val="A100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921240" y="914400"/>
            <a:ext cx="1737360" cy="274320"/>
          </a:xfrm>
          <a:prstGeom prst="rect">
            <a:avLst/>
          </a:prstGeom>
          <a:noFill/>
        </p:spPr>
        <p:txBody>
          <a:bodyPr wrap="square" lIns="0" tIns="0" rIns="0" bIns="0" anchor="t">
            <a:spAutoFit/>
          </a:bodyPr>
          <a:lstStyle/>
          <a:p>
            <a:pPr algn="l"/>
            <a:r>
              <a:rPr sz="1100" b="0" i="0">
                <a:solidFill>
                  <a:srgbClr val="3C3C3C"/>
                </a:solidFill>
                <a:latin typeface="Arial"/>
              </a:rPr>
              <a:t>B · Answer a question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03 · HOW</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Tech stack</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274320"/>
          </a:xfrm>
          <a:prstGeom prst="rect">
            <a:avLst/>
          </a:prstGeom>
          <a:noFill/>
        </p:spPr>
        <p:txBody>
          <a:bodyPr wrap="square" lIns="0" tIns="0" rIns="0" bIns="0" anchor="t">
            <a:spAutoFit/>
          </a:bodyPr>
          <a:lstStyle/>
          <a:p>
            <a:pPr algn="r"/>
            <a:r>
              <a:rPr sz="1000" b="0" i="0">
                <a:solidFill>
                  <a:srgbClr val="666666"/>
                </a:solidFill>
                <a:latin typeface="Arial"/>
              </a:rPr>
              <a:t>10</a:t>
            </a:r>
          </a:p>
        </p:txBody>
      </p:sp>
      <p:sp>
        <p:nvSpPr>
          <p:cNvPr id="6" name="Rounded Rectangle 5"/>
          <p:cNvSpPr/>
          <p:nvPr/>
        </p:nvSpPr>
        <p:spPr>
          <a:xfrm>
            <a:off x="548640" y="1737360"/>
            <a:ext cx="3515258"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Cloud 6"/>
          <p:cNvSpPr/>
          <p:nvPr/>
        </p:nvSpPr>
        <p:spPr>
          <a:xfrm>
            <a:off x="822959" y="2057400"/>
            <a:ext cx="502920" cy="457200"/>
          </a:xfrm>
          <a:prstGeom prst="cloud">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2959" y="2651760"/>
            <a:ext cx="2966618" cy="365760"/>
          </a:xfrm>
          <a:prstGeom prst="rect">
            <a:avLst/>
          </a:prstGeom>
          <a:noFill/>
        </p:spPr>
        <p:txBody>
          <a:bodyPr wrap="square" lIns="0" tIns="0" rIns="0" bIns="0" anchor="t">
            <a:spAutoFit/>
          </a:bodyPr>
          <a:lstStyle/>
          <a:p>
            <a:pPr algn="l"/>
            <a:r>
              <a:rPr sz="1700" b="1" i="0">
                <a:solidFill>
                  <a:srgbClr val="000000"/>
                </a:solidFill>
                <a:latin typeface="Arial"/>
              </a:rPr>
              <a:t>Microsoft Foundry</a:t>
            </a:r>
          </a:p>
        </p:txBody>
      </p:sp>
      <p:sp>
        <p:nvSpPr>
          <p:cNvPr id="9" name="Rounded Rectangle 8"/>
          <p:cNvSpPr/>
          <p:nvPr/>
        </p:nvSpPr>
        <p:spPr>
          <a:xfrm>
            <a:off x="3012338" y="2103120"/>
            <a:ext cx="777240" cy="329184"/>
          </a:xfrm>
          <a:prstGeom prst="roundRect">
            <a:avLst>
              <a:gd name="adj" fmla="val 50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Azure</a:t>
            </a:r>
          </a:p>
        </p:txBody>
      </p:sp>
      <p:sp>
        <p:nvSpPr>
          <p:cNvPr id="10" name="TextBox 9"/>
          <p:cNvSpPr txBox="1"/>
          <p:nvPr/>
        </p:nvSpPr>
        <p:spPr>
          <a:xfrm>
            <a:off x="822959" y="3063239"/>
            <a:ext cx="2966618" cy="640080"/>
          </a:xfrm>
          <a:prstGeom prst="rect">
            <a:avLst/>
          </a:prstGeom>
          <a:noFill/>
        </p:spPr>
        <p:txBody>
          <a:bodyPr wrap="square" lIns="0" tIns="0" rIns="0" bIns="0" anchor="t">
            <a:spAutoFit/>
          </a:bodyPr>
          <a:lstStyle/>
          <a:p>
            <a:pPr algn="l"/>
            <a:r>
              <a:rPr sz="1400" b="0" i="0">
                <a:solidFill>
                  <a:srgbClr val="3C3C3C"/>
                </a:solidFill>
                <a:latin typeface="Arial"/>
              </a:rPr>
              <a:t>Our AI platform: models and the agent in one project</a:t>
            </a:r>
          </a:p>
        </p:txBody>
      </p:sp>
      <p:sp>
        <p:nvSpPr>
          <p:cNvPr id="11" name="Rounded Rectangle 10"/>
          <p:cNvSpPr/>
          <p:nvPr/>
        </p:nvSpPr>
        <p:spPr>
          <a:xfrm>
            <a:off x="4338218" y="1737360"/>
            <a:ext cx="3515258"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Lightning Bolt 11"/>
          <p:cNvSpPr/>
          <p:nvPr/>
        </p:nvSpPr>
        <p:spPr>
          <a:xfrm>
            <a:off x="4612538" y="2057400"/>
            <a:ext cx="502920" cy="457200"/>
          </a:xfrm>
          <a:prstGeom prst="lightningBol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612538" y="2651760"/>
            <a:ext cx="2966618" cy="365760"/>
          </a:xfrm>
          <a:prstGeom prst="rect">
            <a:avLst/>
          </a:prstGeom>
          <a:noFill/>
        </p:spPr>
        <p:txBody>
          <a:bodyPr wrap="square" lIns="0" tIns="0" rIns="0" bIns="0" anchor="t">
            <a:spAutoFit/>
          </a:bodyPr>
          <a:lstStyle/>
          <a:p>
            <a:pPr algn="l"/>
            <a:r>
              <a:rPr sz="1700" b="1" i="0">
                <a:solidFill>
                  <a:srgbClr val="000000"/>
                </a:solidFill>
                <a:latin typeface="Arial"/>
              </a:rPr>
              <a:t>Foundry Agent Service</a:t>
            </a:r>
          </a:p>
        </p:txBody>
      </p:sp>
      <p:sp>
        <p:nvSpPr>
          <p:cNvPr id="14" name="Rounded Rectangle 13"/>
          <p:cNvSpPr/>
          <p:nvPr/>
        </p:nvSpPr>
        <p:spPr>
          <a:xfrm>
            <a:off x="6801916" y="2103120"/>
            <a:ext cx="777240" cy="329184"/>
          </a:xfrm>
          <a:prstGeom prst="roundRect">
            <a:avLst>
              <a:gd name="adj" fmla="val 50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Azure</a:t>
            </a:r>
          </a:p>
        </p:txBody>
      </p:sp>
      <p:sp>
        <p:nvSpPr>
          <p:cNvPr id="15" name="TextBox 14"/>
          <p:cNvSpPr txBox="1"/>
          <p:nvPr/>
        </p:nvSpPr>
        <p:spPr>
          <a:xfrm>
            <a:off x="4612538" y="3063239"/>
            <a:ext cx="2966618" cy="640080"/>
          </a:xfrm>
          <a:prstGeom prst="rect">
            <a:avLst/>
          </a:prstGeom>
          <a:noFill/>
        </p:spPr>
        <p:txBody>
          <a:bodyPr wrap="square" lIns="0" tIns="0" rIns="0" bIns="0" anchor="t">
            <a:spAutoFit/>
          </a:bodyPr>
          <a:lstStyle/>
          <a:p>
            <a:pPr algn="l"/>
            <a:r>
              <a:rPr sz="1400" b="0" i="0">
                <a:solidFill>
                  <a:srgbClr val="3C3C3C"/>
                </a:solidFill>
                <a:latin typeface="Arial"/>
              </a:rPr>
              <a:t>Runs the Zava agent and its tool calls</a:t>
            </a:r>
          </a:p>
        </p:txBody>
      </p:sp>
      <p:sp>
        <p:nvSpPr>
          <p:cNvPr id="16" name="Rounded Rectangle 15"/>
          <p:cNvSpPr/>
          <p:nvPr/>
        </p:nvSpPr>
        <p:spPr>
          <a:xfrm>
            <a:off x="8127796" y="1737360"/>
            <a:ext cx="3515258"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Folded Corner 16"/>
          <p:cNvSpPr/>
          <p:nvPr/>
        </p:nvSpPr>
        <p:spPr>
          <a:xfrm>
            <a:off x="8402116" y="2057400"/>
            <a:ext cx="502920" cy="457200"/>
          </a:xfrm>
          <a:prstGeom prst="foldedCorner">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8402116" y="2651760"/>
            <a:ext cx="2966618" cy="365760"/>
          </a:xfrm>
          <a:prstGeom prst="rect">
            <a:avLst/>
          </a:prstGeom>
          <a:noFill/>
        </p:spPr>
        <p:txBody>
          <a:bodyPr wrap="square" lIns="0" tIns="0" rIns="0" bIns="0" anchor="t">
            <a:spAutoFit/>
          </a:bodyPr>
          <a:lstStyle/>
          <a:p>
            <a:pPr algn="l"/>
            <a:r>
              <a:rPr sz="1700" b="1" i="0">
                <a:solidFill>
                  <a:srgbClr val="000000"/>
                </a:solidFill>
                <a:latin typeface="Arial"/>
              </a:rPr>
              <a:t>Document Intelligence</a:t>
            </a:r>
          </a:p>
        </p:txBody>
      </p:sp>
      <p:sp>
        <p:nvSpPr>
          <p:cNvPr id="19" name="Rounded Rectangle 18"/>
          <p:cNvSpPr/>
          <p:nvPr/>
        </p:nvSpPr>
        <p:spPr>
          <a:xfrm>
            <a:off x="10591495" y="2103120"/>
            <a:ext cx="777240" cy="329184"/>
          </a:xfrm>
          <a:prstGeom prst="roundRect">
            <a:avLst>
              <a:gd name="adj" fmla="val 50000"/>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Azure</a:t>
            </a:r>
          </a:p>
        </p:txBody>
      </p:sp>
      <p:sp>
        <p:nvSpPr>
          <p:cNvPr id="20" name="TextBox 19"/>
          <p:cNvSpPr txBox="1"/>
          <p:nvPr/>
        </p:nvSpPr>
        <p:spPr>
          <a:xfrm>
            <a:off x="8402116" y="3063239"/>
            <a:ext cx="2966618" cy="640080"/>
          </a:xfrm>
          <a:prstGeom prst="rect">
            <a:avLst/>
          </a:prstGeom>
          <a:noFill/>
        </p:spPr>
        <p:txBody>
          <a:bodyPr wrap="square" lIns="0" tIns="0" rIns="0" bIns="0" anchor="t">
            <a:spAutoFit/>
          </a:bodyPr>
          <a:lstStyle/>
          <a:p>
            <a:pPr algn="l"/>
            <a:r>
              <a:rPr sz="1400" b="0" i="0">
                <a:solidFill>
                  <a:srgbClr val="3C3C3C"/>
                </a:solidFill>
                <a:latin typeface="Arial"/>
              </a:rPr>
              <a:t>Reads PDFs into clean text with tables and pages</a:t>
            </a:r>
          </a:p>
        </p:txBody>
      </p:sp>
      <p:sp>
        <p:nvSpPr>
          <p:cNvPr id="21" name="Rounded Rectangle 20"/>
          <p:cNvSpPr/>
          <p:nvPr/>
        </p:nvSpPr>
        <p:spPr>
          <a:xfrm>
            <a:off x="548640" y="3931920"/>
            <a:ext cx="3515258"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Can 21"/>
          <p:cNvSpPr/>
          <p:nvPr/>
        </p:nvSpPr>
        <p:spPr>
          <a:xfrm>
            <a:off x="822959" y="4251959"/>
            <a:ext cx="502920" cy="457200"/>
          </a:xfrm>
          <a:prstGeom prst="can">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22959" y="4846320"/>
            <a:ext cx="2966618" cy="365760"/>
          </a:xfrm>
          <a:prstGeom prst="rect">
            <a:avLst/>
          </a:prstGeom>
          <a:noFill/>
        </p:spPr>
        <p:txBody>
          <a:bodyPr wrap="square" lIns="0" tIns="0" rIns="0" bIns="0" anchor="t">
            <a:spAutoFit/>
          </a:bodyPr>
          <a:lstStyle/>
          <a:p>
            <a:pPr algn="l"/>
            <a:r>
              <a:rPr sz="1700" b="1" i="0">
                <a:solidFill>
                  <a:srgbClr val="000000"/>
                </a:solidFill>
                <a:latin typeface="Arial"/>
              </a:rPr>
              <a:t>Neo4j</a:t>
            </a:r>
          </a:p>
        </p:txBody>
      </p:sp>
      <p:sp>
        <p:nvSpPr>
          <p:cNvPr id="24" name="Rounded Rectangle 23"/>
          <p:cNvSpPr/>
          <p:nvPr/>
        </p:nvSpPr>
        <p:spPr>
          <a:xfrm>
            <a:off x="3012338" y="4297680"/>
            <a:ext cx="777240" cy="32918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Local</a:t>
            </a:r>
          </a:p>
        </p:txBody>
      </p:sp>
      <p:sp>
        <p:nvSpPr>
          <p:cNvPr id="25" name="TextBox 24"/>
          <p:cNvSpPr txBox="1"/>
          <p:nvPr/>
        </p:nvSpPr>
        <p:spPr>
          <a:xfrm>
            <a:off x="822959" y="5257800"/>
            <a:ext cx="2966618" cy="640080"/>
          </a:xfrm>
          <a:prstGeom prst="rect">
            <a:avLst/>
          </a:prstGeom>
          <a:noFill/>
        </p:spPr>
        <p:txBody>
          <a:bodyPr wrap="square" lIns="0" tIns="0" rIns="0" bIns="0" anchor="t">
            <a:spAutoFit/>
          </a:bodyPr>
          <a:lstStyle/>
          <a:p>
            <a:pPr algn="l"/>
            <a:r>
              <a:rPr sz="1400" b="0" i="0">
                <a:solidFill>
                  <a:srgbClr val="3C3C3C"/>
                </a:solidFill>
                <a:latin typeface="Arial"/>
              </a:rPr>
              <a:t>Knowledge graph and vector index, in Docker</a:t>
            </a:r>
          </a:p>
        </p:txBody>
      </p:sp>
      <p:sp>
        <p:nvSpPr>
          <p:cNvPr id="26" name="Rounded Rectangle 25"/>
          <p:cNvSpPr/>
          <p:nvPr/>
        </p:nvSpPr>
        <p:spPr>
          <a:xfrm>
            <a:off x="4338218" y="3931920"/>
            <a:ext cx="3515258"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566818" y="4279392"/>
            <a:ext cx="640080" cy="457200"/>
          </a:xfrm>
          <a:prstGeom prst="rect">
            <a:avLst/>
          </a:prstGeom>
          <a:noFill/>
        </p:spPr>
        <p:txBody>
          <a:bodyPr wrap="square" lIns="0" tIns="0" rIns="0" bIns="0" anchor="t">
            <a:spAutoFit/>
          </a:bodyPr>
          <a:lstStyle/>
          <a:p>
            <a:pPr algn="l"/>
            <a:r>
              <a:rPr sz="1800" b="1" i="0">
                <a:solidFill>
                  <a:srgbClr val="A100FF"/>
                </a:solidFill>
                <a:latin typeface="Courier New"/>
              </a:rPr>
              <a:t>&lt;/&gt;</a:t>
            </a:r>
          </a:p>
        </p:txBody>
      </p:sp>
      <p:sp>
        <p:nvSpPr>
          <p:cNvPr id="28" name="TextBox 27"/>
          <p:cNvSpPr txBox="1"/>
          <p:nvPr/>
        </p:nvSpPr>
        <p:spPr>
          <a:xfrm>
            <a:off x="4612538" y="4846320"/>
            <a:ext cx="2966618" cy="365760"/>
          </a:xfrm>
          <a:prstGeom prst="rect">
            <a:avLst/>
          </a:prstGeom>
          <a:noFill/>
        </p:spPr>
        <p:txBody>
          <a:bodyPr wrap="square" lIns="0" tIns="0" rIns="0" bIns="0" anchor="t">
            <a:spAutoFit/>
          </a:bodyPr>
          <a:lstStyle/>
          <a:p>
            <a:pPr algn="l"/>
            <a:r>
              <a:rPr sz="1700" b="1" i="0">
                <a:solidFill>
                  <a:srgbClr val="000000"/>
                </a:solidFill>
                <a:latin typeface="Arial"/>
              </a:rPr>
              <a:t>Python + uv</a:t>
            </a:r>
          </a:p>
        </p:txBody>
      </p:sp>
      <p:sp>
        <p:nvSpPr>
          <p:cNvPr id="29" name="Rounded Rectangle 28"/>
          <p:cNvSpPr/>
          <p:nvPr/>
        </p:nvSpPr>
        <p:spPr>
          <a:xfrm>
            <a:off x="6801916" y="4297680"/>
            <a:ext cx="777240" cy="32918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Local</a:t>
            </a:r>
          </a:p>
        </p:txBody>
      </p:sp>
      <p:sp>
        <p:nvSpPr>
          <p:cNvPr id="30" name="TextBox 29"/>
          <p:cNvSpPr txBox="1"/>
          <p:nvPr/>
        </p:nvSpPr>
        <p:spPr>
          <a:xfrm>
            <a:off x="4612538" y="5257800"/>
            <a:ext cx="2966618" cy="640080"/>
          </a:xfrm>
          <a:prstGeom prst="rect">
            <a:avLst/>
          </a:prstGeom>
          <a:noFill/>
        </p:spPr>
        <p:txBody>
          <a:bodyPr wrap="square" lIns="0" tIns="0" rIns="0" bIns="0" anchor="t">
            <a:spAutoFit/>
          </a:bodyPr>
          <a:lstStyle/>
          <a:p>
            <a:pPr algn="l"/>
            <a:r>
              <a:rPr sz="1400" b="0" i="0">
                <a:solidFill>
                  <a:srgbClr val="3C3C3C"/>
                </a:solidFill>
                <a:latin typeface="Arial"/>
              </a:rPr>
              <a:t>Build pipeline and agent tools</a:t>
            </a:r>
          </a:p>
        </p:txBody>
      </p:sp>
      <p:sp>
        <p:nvSpPr>
          <p:cNvPr id="31" name="Rounded Rectangle 30"/>
          <p:cNvSpPr/>
          <p:nvPr/>
        </p:nvSpPr>
        <p:spPr>
          <a:xfrm>
            <a:off x="8127796" y="3931920"/>
            <a:ext cx="3515258" cy="2011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ounded Rectangular Callout 31"/>
          <p:cNvSpPr/>
          <p:nvPr/>
        </p:nvSpPr>
        <p:spPr>
          <a:xfrm>
            <a:off x="8402116" y="4251959"/>
            <a:ext cx="502920" cy="457200"/>
          </a:xfrm>
          <a:prstGeom prst="wedgeRoundRectCallou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8402116" y="4846320"/>
            <a:ext cx="2966618" cy="365760"/>
          </a:xfrm>
          <a:prstGeom prst="rect">
            <a:avLst/>
          </a:prstGeom>
          <a:noFill/>
        </p:spPr>
        <p:txBody>
          <a:bodyPr wrap="square" lIns="0" tIns="0" rIns="0" bIns="0" anchor="t">
            <a:spAutoFit/>
          </a:bodyPr>
          <a:lstStyle/>
          <a:p>
            <a:pPr algn="l"/>
            <a:r>
              <a:rPr sz="1700" b="1" i="0">
                <a:solidFill>
                  <a:srgbClr val="000000"/>
                </a:solidFill>
                <a:latin typeface="Arial"/>
              </a:rPr>
              <a:t>Streamlit</a:t>
            </a:r>
          </a:p>
        </p:txBody>
      </p:sp>
      <p:sp>
        <p:nvSpPr>
          <p:cNvPr id="34" name="Rounded Rectangle 33"/>
          <p:cNvSpPr/>
          <p:nvPr/>
        </p:nvSpPr>
        <p:spPr>
          <a:xfrm>
            <a:off x="10591495" y="4297680"/>
            <a:ext cx="777240" cy="329184"/>
          </a:xfrm>
          <a:prstGeom prst="roundRect">
            <a:avLst>
              <a:gd name="adj" fmla="val 50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Local</a:t>
            </a:r>
          </a:p>
        </p:txBody>
      </p:sp>
      <p:sp>
        <p:nvSpPr>
          <p:cNvPr id="35" name="TextBox 34"/>
          <p:cNvSpPr txBox="1"/>
          <p:nvPr/>
        </p:nvSpPr>
        <p:spPr>
          <a:xfrm>
            <a:off x="8402116" y="5257800"/>
            <a:ext cx="2966618" cy="640080"/>
          </a:xfrm>
          <a:prstGeom prst="rect">
            <a:avLst/>
          </a:prstGeom>
          <a:noFill/>
        </p:spPr>
        <p:txBody>
          <a:bodyPr wrap="square" lIns="0" tIns="0" rIns="0" bIns="0" anchor="t">
            <a:spAutoFit/>
          </a:bodyPr>
          <a:lstStyle/>
          <a:p>
            <a:pPr algn="l"/>
            <a:r>
              <a:rPr sz="1400" b="0" i="0">
                <a:solidFill>
                  <a:srgbClr val="3C3C3C"/>
                </a:solidFill>
                <a:latin typeface="Arial"/>
              </a:rPr>
              <a:t>A simple chat UI for the demo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03 · HOW</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The agent and its tools</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274320"/>
          </a:xfrm>
          <a:prstGeom prst="rect">
            <a:avLst/>
          </a:prstGeom>
          <a:noFill/>
        </p:spPr>
        <p:txBody>
          <a:bodyPr wrap="square" lIns="0" tIns="0" rIns="0" bIns="0" anchor="t">
            <a:spAutoFit/>
          </a:bodyPr>
          <a:lstStyle/>
          <a:p>
            <a:pPr algn="r"/>
            <a:r>
              <a:rPr sz="1000" b="0" i="0">
                <a:solidFill>
                  <a:srgbClr val="666666"/>
                </a:solidFill>
                <a:latin typeface="Arial"/>
              </a:rPr>
              <a:t>11</a:t>
            </a:r>
          </a:p>
        </p:txBody>
      </p:sp>
      <p:graphicFrame>
        <p:nvGraphicFramePr>
          <p:cNvPr id="6" name="Table 5"/>
          <p:cNvGraphicFramePr>
            <a:graphicFrameLocks noGrp="1"/>
          </p:cNvGraphicFramePr>
          <p:nvPr/>
        </p:nvGraphicFramePr>
        <p:xfrm>
          <a:off x="548640" y="1737360"/>
          <a:ext cx="11094415" cy="1463040"/>
        </p:xfrm>
        <a:graphic>
          <a:graphicData uri="http://schemas.openxmlformats.org/drawingml/2006/table">
            <a:tbl>
              <a:tblPr firstRow="1">
                <a:tableStyleId>{5940675A-B579-460E-94D1-54222C63F5DA}</a:tableStyleId>
              </a:tblPr>
              <a:tblGrid>
                <a:gridCol w="29260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962095">
                  <a:extLst>
                    <a:ext uri="{9D8B030D-6E8A-4147-A177-3AD203B41FA5}">
                      <a16:colId xmlns:a16="http://schemas.microsoft.com/office/drawing/2014/main" val="20002"/>
                    </a:ext>
                  </a:extLst>
                </a:gridCol>
              </a:tblGrid>
              <a:tr h="365760">
                <a:tc>
                  <a:txBody>
                    <a:bodyPr/>
                    <a:lstStyle/>
                    <a:p>
                      <a:r>
                        <a:rPr sz="1400" b="1">
                          <a:solidFill>
                            <a:srgbClr val="FFFFFF"/>
                          </a:solidFill>
                          <a:latin typeface="Arial"/>
                        </a:rPr>
                        <a:t>Tool</a:t>
                      </a:r>
                    </a:p>
                  </a:txBody>
                  <a:tcPr marL="109728" marR="109728" marT="64008" marB="64008" anchor="ctr">
                    <a:solidFill>
                      <a:srgbClr val="000000"/>
                    </a:solidFill>
                  </a:tcPr>
                </a:tc>
                <a:tc>
                  <a:txBody>
                    <a:bodyPr/>
                    <a:lstStyle/>
                    <a:p>
                      <a:r>
                        <a:rPr sz="1400" b="1">
                          <a:solidFill>
                            <a:srgbClr val="FFFFFF"/>
                          </a:solidFill>
                          <a:latin typeface="Arial"/>
                        </a:rPr>
                        <a:t>What it does</a:t>
                      </a:r>
                    </a:p>
                  </a:txBody>
                  <a:tcPr marL="109728" marR="109728" marT="64008" marB="64008" anchor="ctr">
                    <a:solidFill>
                      <a:srgbClr val="000000"/>
                    </a:solidFill>
                  </a:tcPr>
                </a:tc>
                <a:tc>
                  <a:txBody>
                    <a:bodyPr/>
                    <a:lstStyle/>
                    <a:p>
                      <a:r>
                        <a:rPr sz="1400" b="1">
                          <a:solidFill>
                            <a:srgbClr val="FFFFFF"/>
                          </a:solidFill>
                          <a:latin typeface="Arial"/>
                        </a:rPr>
                        <a:t>Example question</a:t>
                      </a:r>
                    </a:p>
                  </a:txBody>
                  <a:tcPr marL="109728" marR="109728" marT="64008" marB="64008" anchor="ctr">
                    <a:solidFill>
                      <a:srgbClr val="000000"/>
                    </a:solidFill>
                  </a:tcPr>
                </a:tc>
                <a:extLst>
                  <a:ext uri="{0D108BD9-81ED-4DB2-BD59-A6C34878D82A}">
                    <a16:rowId xmlns:a16="http://schemas.microsoft.com/office/drawing/2014/main" val="10000"/>
                  </a:ext>
                </a:extLst>
              </a:tr>
              <a:tr h="365760">
                <a:tc>
                  <a:txBody>
                    <a:bodyPr/>
                    <a:lstStyle/>
                    <a:p>
                      <a:r>
                        <a:rPr sz="1400" b="1">
                          <a:solidFill>
                            <a:srgbClr val="000000"/>
                          </a:solidFill>
                          <a:latin typeface="Courier New"/>
                        </a:rPr>
                        <a:t>search_documents</a:t>
                      </a:r>
                    </a:p>
                  </a:txBody>
                  <a:tcPr marL="109728" marR="109728" marT="64008" marB="64008" anchor="ctr">
                    <a:solidFill>
                      <a:srgbClr val="FFFFFF"/>
                    </a:solidFill>
                  </a:tcPr>
                </a:tc>
                <a:tc>
                  <a:txBody>
                    <a:bodyPr/>
                    <a:lstStyle/>
                    <a:p>
                      <a:r>
                        <a:rPr sz="1400" b="0">
                          <a:solidFill>
                            <a:srgbClr val="3C3C3C"/>
                          </a:solidFill>
                          <a:latin typeface="Arial"/>
                        </a:rPr>
                        <a:t>Vector search over text chunks</a:t>
                      </a:r>
                    </a:p>
                  </a:txBody>
                  <a:tcPr marL="109728" marR="109728" marT="64008" marB="64008" anchor="ctr">
                    <a:solidFill>
                      <a:srgbClr val="FFFFFF"/>
                    </a:solidFill>
                  </a:tcPr>
                </a:tc>
                <a:tc>
                  <a:txBody>
                    <a:bodyPr/>
                    <a:lstStyle/>
                    <a:p>
                      <a:r>
                        <a:rPr sz="1400" b="0">
                          <a:solidFill>
                            <a:srgbClr val="3C3C3C"/>
                          </a:solidFill>
                          <a:latin typeface="Arial"/>
                        </a:rPr>
                        <a:t>“What is the Health Plus deductible?”</a:t>
                      </a:r>
                    </a:p>
                  </a:txBody>
                  <a:tcPr marL="109728" marR="109728" marT="64008" marB="64008" anchor="ctr">
                    <a:solidFill>
                      <a:srgbClr val="FFFFFF"/>
                    </a:solidFill>
                  </a:tcPr>
                </a:tc>
                <a:extLst>
                  <a:ext uri="{0D108BD9-81ED-4DB2-BD59-A6C34878D82A}">
                    <a16:rowId xmlns:a16="http://schemas.microsoft.com/office/drawing/2014/main" val="10001"/>
                  </a:ext>
                </a:extLst>
              </a:tr>
              <a:tr h="365760">
                <a:tc>
                  <a:txBody>
                    <a:bodyPr/>
                    <a:lstStyle/>
                    <a:p>
                      <a:r>
                        <a:rPr sz="1400" b="1">
                          <a:solidFill>
                            <a:srgbClr val="000000"/>
                          </a:solidFill>
                          <a:latin typeface="Courier New"/>
                        </a:rPr>
                        <a:t>explore_entity</a:t>
                      </a:r>
                    </a:p>
                  </a:txBody>
                  <a:tcPr marL="109728" marR="109728" marT="64008" marB="64008" anchor="ctr">
                    <a:solidFill>
                      <a:srgbClr val="F2F2F2"/>
                    </a:solidFill>
                  </a:tcPr>
                </a:tc>
                <a:tc>
                  <a:txBody>
                    <a:bodyPr/>
                    <a:lstStyle/>
                    <a:p>
                      <a:r>
                        <a:rPr sz="1400" b="0">
                          <a:solidFill>
                            <a:srgbClr val="3C3C3C"/>
                          </a:solidFill>
                          <a:latin typeface="Arial"/>
                        </a:rPr>
                        <a:t>An entity, its neighbours and their sources</a:t>
                      </a:r>
                    </a:p>
                  </a:txBody>
                  <a:tcPr marL="109728" marR="109728" marT="64008" marB="64008" anchor="ctr">
                    <a:solidFill>
                      <a:srgbClr val="F2F2F2"/>
                    </a:solidFill>
                  </a:tcPr>
                </a:tc>
                <a:tc>
                  <a:txBody>
                    <a:bodyPr/>
                    <a:lstStyle/>
                    <a:p>
                      <a:r>
                        <a:rPr sz="1400" b="0">
                          <a:solidFill>
                            <a:srgbClr val="3C3C3C"/>
                          </a:solidFill>
                          <a:latin typeface="Arial"/>
                        </a:rPr>
                        <a:t>“What does Health Plus cover?”</a:t>
                      </a:r>
                    </a:p>
                  </a:txBody>
                  <a:tcPr marL="109728" marR="109728" marT="64008" marB="64008" anchor="ctr">
                    <a:solidFill>
                      <a:srgbClr val="F2F2F2"/>
                    </a:solidFill>
                  </a:tcPr>
                </a:tc>
                <a:extLst>
                  <a:ext uri="{0D108BD9-81ED-4DB2-BD59-A6C34878D82A}">
                    <a16:rowId xmlns:a16="http://schemas.microsoft.com/office/drawing/2014/main" val="10002"/>
                  </a:ext>
                </a:extLst>
              </a:tr>
              <a:tr h="365760">
                <a:tc>
                  <a:txBody>
                    <a:bodyPr/>
                    <a:lstStyle/>
                    <a:p>
                      <a:r>
                        <a:rPr sz="1400" b="1">
                          <a:solidFill>
                            <a:srgbClr val="000000"/>
                          </a:solidFill>
                          <a:latin typeface="Courier New"/>
                        </a:rPr>
                        <a:t>query_graph</a:t>
                      </a:r>
                    </a:p>
                  </a:txBody>
                  <a:tcPr marL="109728" marR="109728" marT="64008" marB="64008" anchor="ctr">
                    <a:solidFill>
                      <a:srgbClr val="FFFFFF"/>
                    </a:solidFill>
                  </a:tcPr>
                </a:tc>
                <a:tc>
                  <a:txBody>
                    <a:bodyPr/>
                    <a:lstStyle/>
                    <a:p>
                      <a:r>
                        <a:rPr sz="1400" b="0">
                          <a:solidFill>
                            <a:srgbClr val="3C3C3C"/>
                          </a:solidFill>
                          <a:latin typeface="Arial"/>
                        </a:rPr>
                        <a:t>LLM writes Cypher, run read-only with a LIMIT</a:t>
                      </a:r>
                    </a:p>
                  </a:txBody>
                  <a:tcPr marL="109728" marR="109728" marT="64008" marB="64008" anchor="ctr">
                    <a:solidFill>
                      <a:srgbClr val="FFFFFF"/>
                    </a:solidFill>
                  </a:tcPr>
                </a:tc>
                <a:tc>
                  <a:txBody>
                    <a:bodyPr/>
                    <a:lstStyle/>
                    <a:p>
                      <a:r>
                        <a:rPr sz="1400" b="0">
                          <a:solidFill>
                            <a:srgbClr val="3C3C3C"/>
                          </a:solidFill>
                          <a:latin typeface="Arial"/>
                        </a:rPr>
                        <a:t>“Which roles require Python?”</a:t>
                      </a:r>
                    </a:p>
                  </a:txBody>
                  <a:tcPr marL="109728" marR="109728" marT="64008" marB="64008" anchor="ctr">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548640" y="3749039"/>
            <a:ext cx="5364327" cy="14630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68680" y="3977639"/>
            <a:ext cx="4724247" cy="365760"/>
          </a:xfrm>
          <a:prstGeom prst="rect">
            <a:avLst/>
          </a:prstGeom>
          <a:noFill/>
        </p:spPr>
        <p:txBody>
          <a:bodyPr wrap="square" lIns="0" tIns="0" rIns="0" bIns="0" anchor="t">
            <a:spAutoFit/>
          </a:bodyPr>
          <a:lstStyle/>
          <a:p>
            <a:pPr algn="l"/>
            <a:r>
              <a:rPr sz="2000" b="1" i="0">
                <a:solidFill>
                  <a:srgbClr val="000000"/>
                </a:solidFill>
                <a:latin typeface="Arial"/>
              </a:rPr>
              <a:t>Baseline agent</a:t>
            </a:r>
          </a:p>
        </p:txBody>
      </p:sp>
      <p:sp>
        <p:nvSpPr>
          <p:cNvPr id="9" name="TextBox 8"/>
          <p:cNvSpPr txBox="1"/>
          <p:nvPr/>
        </p:nvSpPr>
        <p:spPr>
          <a:xfrm>
            <a:off x="868680" y="4434840"/>
            <a:ext cx="4724247" cy="640080"/>
          </a:xfrm>
          <a:prstGeom prst="rect">
            <a:avLst/>
          </a:prstGeom>
          <a:noFill/>
        </p:spPr>
        <p:txBody>
          <a:bodyPr wrap="square" lIns="0" tIns="0" rIns="0" bIns="0" anchor="t">
            <a:spAutoFit/>
          </a:bodyPr>
          <a:lstStyle/>
          <a:p>
            <a:pPr algn="l"/>
            <a:r>
              <a:rPr sz="1500" b="0" i="0">
                <a:solidFill>
                  <a:srgbClr val="3C3C3C"/>
                </a:solidFill>
                <a:latin typeface="Arial"/>
              </a:rPr>
              <a:t>Only search_documents. This is plain RAG, the score to beat.</a:t>
            </a:r>
          </a:p>
        </p:txBody>
      </p:sp>
      <p:sp>
        <p:nvSpPr>
          <p:cNvPr id="10" name="Rounded Rectangle 9"/>
          <p:cNvSpPr/>
          <p:nvPr/>
        </p:nvSpPr>
        <p:spPr>
          <a:xfrm>
            <a:off x="6278727" y="3749039"/>
            <a:ext cx="5364327" cy="1463040"/>
          </a:xfrm>
          <a:prstGeom prst="roundRect">
            <a:avLst>
              <a:gd name="adj" fmla="val 8000"/>
            </a:avLst>
          </a:prstGeom>
          <a:solidFill>
            <a:srgbClr val="F3E6FF"/>
          </a:solidFill>
          <a:ln w="254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598767" y="3977639"/>
            <a:ext cx="4724247" cy="365760"/>
          </a:xfrm>
          <a:prstGeom prst="rect">
            <a:avLst/>
          </a:prstGeom>
          <a:noFill/>
        </p:spPr>
        <p:txBody>
          <a:bodyPr wrap="square" lIns="0" tIns="0" rIns="0" bIns="0" anchor="t">
            <a:spAutoFit/>
          </a:bodyPr>
          <a:lstStyle/>
          <a:p>
            <a:pPr algn="l"/>
            <a:r>
              <a:rPr sz="2000" b="1" i="0">
                <a:solidFill>
                  <a:srgbClr val="000000"/>
                </a:solidFill>
                <a:latin typeface="Arial"/>
              </a:rPr>
              <a:t>GraphRAG agent</a:t>
            </a:r>
          </a:p>
        </p:txBody>
      </p:sp>
      <p:sp>
        <p:nvSpPr>
          <p:cNvPr id="12" name="TextBox 11"/>
          <p:cNvSpPr txBox="1"/>
          <p:nvPr/>
        </p:nvSpPr>
        <p:spPr>
          <a:xfrm>
            <a:off x="6598767" y="4434840"/>
            <a:ext cx="4724247" cy="640080"/>
          </a:xfrm>
          <a:prstGeom prst="rect">
            <a:avLst/>
          </a:prstGeom>
          <a:noFill/>
        </p:spPr>
        <p:txBody>
          <a:bodyPr wrap="square" lIns="0" tIns="0" rIns="0" bIns="0" anchor="t">
            <a:spAutoFit/>
          </a:bodyPr>
          <a:lstStyle/>
          <a:p>
            <a:pPr algn="l"/>
            <a:r>
              <a:rPr sz="1500" b="0" i="0">
                <a:solidFill>
                  <a:srgbClr val="3C3C3C"/>
                </a:solidFill>
                <a:latin typeface="Arial"/>
              </a:rPr>
              <a:t>All three tools. It picks the right tool for each question.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03 · HOW</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Graph model</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274320"/>
          </a:xfrm>
          <a:prstGeom prst="rect">
            <a:avLst/>
          </a:prstGeom>
          <a:noFill/>
        </p:spPr>
        <p:txBody>
          <a:bodyPr wrap="square" lIns="0" tIns="0" rIns="0" bIns="0" anchor="t">
            <a:spAutoFit/>
          </a:bodyPr>
          <a:lstStyle/>
          <a:p>
            <a:pPr algn="r"/>
            <a:r>
              <a:rPr sz="1000" b="0" i="0">
                <a:solidFill>
                  <a:srgbClr val="666666"/>
                </a:solidFill>
                <a:latin typeface="Arial"/>
              </a:rPr>
              <a:t>12</a:t>
            </a:r>
          </a:p>
        </p:txBody>
      </p:sp>
      <p:sp>
        <p:nvSpPr>
          <p:cNvPr id="6" name="TextBox 5"/>
          <p:cNvSpPr txBox="1"/>
          <p:nvPr/>
        </p:nvSpPr>
        <p:spPr>
          <a:xfrm>
            <a:off x="548640" y="1645920"/>
            <a:ext cx="5364327" cy="320040"/>
          </a:xfrm>
          <a:prstGeom prst="rect">
            <a:avLst/>
          </a:prstGeom>
          <a:noFill/>
        </p:spPr>
        <p:txBody>
          <a:bodyPr wrap="square" lIns="0" tIns="0" rIns="0" bIns="0" anchor="t">
            <a:spAutoFit/>
          </a:bodyPr>
          <a:lstStyle/>
          <a:p>
            <a:pPr algn="l"/>
            <a:r>
              <a:rPr sz="1600" b="1" i="0">
                <a:solidFill>
                  <a:srgbClr val="000000"/>
                </a:solidFill>
                <a:latin typeface="Arial"/>
              </a:rPr>
              <a:t>Nodes</a:t>
            </a:r>
          </a:p>
        </p:txBody>
      </p:sp>
      <p:graphicFrame>
        <p:nvGraphicFramePr>
          <p:cNvPr id="7" name="Table 6"/>
          <p:cNvGraphicFramePr>
            <a:graphicFrameLocks noGrp="1"/>
          </p:cNvGraphicFramePr>
          <p:nvPr/>
        </p:nvGraphicFramePr>
        <p:xfrm>
          <a:off x="548640" y="2011680"/>
          <a:ext cx="5364327" cy="3291840"/>
        </p:xfrm>
        <a:graphic>
          <a:graphicData uri="http://schemas.openxmlformats.org/drawingml/2006/table">
            <a:tbl>
              <a:tblPr firstRow="1">
                <a:tableStyleId>{5940675A-B579-460E-94D1-54222C63F5DA}</a:tableStyleId>
              </a:tblPr>
              <a:tblGrid>
                <a:gridCol w="15544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2621127">
                  <a:extLst>
                    <a:ext uri="{9D8B030D-6E8A-4147-A177-3AD203B41FA5}">
                      <a16:colId xmlns:a16="http://schemas.microsoft.com/office/drawing/2014/main" val="20002"/>
                    </a:ext>
                  </a:extLst>
                </a:gridCol>
              </a:tblGrid>
              <a:tr h="365760">
                <a:tc>
                  <a:txBody>
                    <a:bodyPr/>
                    <a:lstStyle/>
                    <a:p>
                      <a:r>
                        <a:rPr sz="1200" b="1">
                          <a:solidFill>
                            <a:srgbClr val="FFFFFF"/>
                          </a:solidFill>
                          <a:latin typeface="Arial"/>
                        </a:rPr>
                        <a:t>Label</a:t>
                      </a:r>
                    </a:p>
                  </a:txBody>
                  <a:tcPr marL="109728" marR="109728" marT="64008" marB="64008" anchor="ctr">
                    <a:solidFill>
                      <a:srgbClr val="000000"/>
                    </a:solidFill>
                  </a:tcPr>
                </a:tc>
                <a:tc>
                  <a:txBody>
                    <a:bodyPr/>
                    <a:lstStyle/>
                    <a:p>
                      <a:r>
                        <a:rPr sz="1200" b="1">
                          <a:solidFill>
                            <a:srgbClr val="FFFFFF"/>
                          </a:solidFill>
                          <a:latin typeface="Arial"/>
                        </a:rPr>
                        <a:t>Made by</a:t>
                      </a:r>
                    </a:p>
                  </a:txBody>
                  <a:tcPr marL="109728" marR="109728" marT="64008" marB="64008" anchor="ctr">
                    <a:solidFill>
                      <a:srgbClr val="000000"/>
                    </a:solidFill>
                  </a:tcPr>
                </a:tc>
                <a:tc>
                  <a:txBody>
                    <a:bodyPr/>
                    <a:lstStyle/>
                    <a:p>
                      <a:r>
                        <a:rPr sz="1200" b="1">
                          <a:solidFill>
                            <a:srgbClr val="FFFFFF"/>
                          </a:solidFill>
                          <a:latin typeface="Arial"/>
                        </a:rPr>
                        <a:t>Example</a:t>
                      </a:r>
                    </a:p>
                  </a:txBody>
                  <a:tcPr marL="109728" marR="109728" marT="64008" marB="64008" anchor="ctr">
                    <a:solidFill>
                      <a:srgbClr val="000000"/>
                    </a:solidFill>
                  </a:tcPr>
                </a:tc>
                <a:extLst>
                  <a:ext uri="{0D108BD9-81ED-4DB2-BD59-A6C34878D82A}">
                    <a16:rowId xmlns:a16="http://schemas.microsoft.com/office/drawing/2014/main" val="10000"/>
                  </a:ext>
                </a:extLst>
              </a:tr>
              <a:tr h="365760">
                <a:tc>
                  <a:txBody>
                    <a:bodyPr/>
                    <a:lstStyle/>
                    <a:p>
                      <a:r>
                        <a:rPr sz="1200" b="1">
                          <a:solidFill>
                            <a:srgbClr val="000000"/>
                          </a:solidFill>
                          <a:latin typeface="Courier New"/>
                        </a:rPr>
                        <a:t>Document</a:t>
                      </a:r>
                    </a:p>
                  </a:txBody>
                  <a:tcPr marL="109728" marR="109728" marT="64008" marB="64008" anchor="ctr">
                    <a:solidFill>
                      <a:srgbClr val="FFFFFF"/>
                    </a:solidFill>
                  </a:tcPr>
                </a:tc>
                <a:tc>
                  <a:txBody>
                    <a:bodyPr/>
                    <a:lstStyle/>
                    <a:p>
                      <a:r>
                        <a:rPr sz="1200" b="0">
                          <a:solidFill>
                            <a:srgbClr val="3C3C3C"/>
                          </a:solidFill>
                          <a:latin typeface="Arial"/>
                        </a:rPr>
                        <a:t>Pipeline</a:t>
                      </a:r>
                    </a:p>
                  </a:txBody>
                  <a:tcPr marL="109728" marR="109728" marT="64008" marB="64008" anchor="ctr">
                    <a:solidFill>
                      <a:srgbClr val="FFFFFF"/>
                    </a:solidFill>
                  </a:tcPr>
                </a:tc>
                <a:tc>
                  <a:txBody>
                    <a:bodyPr/>
                    <a:lstStyle/>
                    <a:p>
                      <a:r>
                        <a:rPr sz="1200" b="0">
                          <a:solidFill>
                            <a:srgbClr val="3C3C3C"/>
                          </a:solidFill>
                          <a:latin typeface="Arial"/>
                        </a:rPr>
                        <a:t>employee_handbook.pdf</a:t>
                      </a:r>
                    </a:p>
                  </a:txBody>
                  <a:tcPr marL="109728" marR="109728" marT="64008" marB="64008" anchor="ctr">
                    <a:solidFill>
                      <a:srgbClr val="FFFFFF"/>
                    </a:solidFill>
                  </a:tcPr>
                </a:tc>
                <a:extLst>
                  <a:ext uri="{0D108BD9-81ED-4DB2-BD59-A6C34878D82A}">
                    <a16:rowId xmlns:a16="http://schemas.microsoft.com/office/drawing/2014/main" val="10001"/>
                  </a:ext>
                </a:extLst>
              </a:tr>
              <a:tr h="365760">
                <a:tc>
                  <a:txBody>
                    <a:bodyPr/>
                    <a:lstStyle/>
                    <a:p>
                      <a:r>
                        <a:rPr sz="1200" b="1">
                          <a:solidFill>
                            <a:srgbClr val="000000"/>
                          </a:solidFill>
                          <a:latin typeface="Courier New"/>
                        </a:rPr>
                        <a:t>Chunk</a:t>
                      </a:r>
                    </a:p>
                  </a:txBody>
                  <a:tcPr marL="109728" marR="109728" marT="64008" marB="64008" anchor="ctr">
                    <a:solidFill>
                      <a:srgbClr val="F2F2F2"/>
                    </a:solidFill>
                  </a:tcPr>
                </a:tc>
                <a:tc>
                  <a:txBody>
                    <a:bodyPr/>
                    <a:lstStyle/>
                    <a:p>
                      <a:r>
                        <a:rPr sz="1200" b="0">
                          <a:solidFill>
                            <a:srgbClr val="3C3C3C"/>
                          </a:solidFill>
                          <a:latin typeface="Arial"/>
                        </a:rPr>
                        <a:t>Pipeline</a:t>
                      </a:r>
                    </a:p>
                  </a:txBody>
                  <a:tcPr marL="109728" marR="109728" marT="64008" marB="64008" anchor="ctr">
                    <a:solidFill>
                      <a:srgbClr val="F2F2F2"/>
                    </a:solidFill>
                  </a:tcPr>
                </a:tc>
                <a:tc>
                  <a:txBody>
                    <a:bodyPr/>
                    <a:lstStyle/>
                    <a:p>
                      <a:r>
                        <a:rPr sz="1200" b="0">
                          <a:solidFill>
                            <a:srgbClr val="3C3C3C"/>
                          </a:solidFill>
                          <a:latin typeface="Arial"/>
                        </a:rPr>
                        <a:t>Text + embedding + page</a:t>
                      </a:r>
                    </a:p>
                  </a:txBody>
                  <a:tcPr marL="109728" marR="109728" marT="64008" marB="64008" anchor="ctr">
                    <a:solidFill>
                      <a:srgbClr val="F2F2F2"/>
                    </a:solidFill>
                  </a:tcPr>
                </a:tc>
                <a:extLst>
                  <a:ext uri="{0D108BD9-81ED-4DB2-BD59-A6C34878D82A}">
                    <a16:rowId xmlns:a16="http://schemas.microsoft.com/office/drawing/2014/main" val="10002"/>
                  </a:ext>
                </a:extLst>
              </a:tr>
              <a:tr h="365760">
                <a:tc>
                  <a:txBody>
                    <a:bodyPr/>
                    <a:lstStyle/>
                    <a:p>
                      <a:r>
                        <a:rPr sz="1200" b="1">
                          <a:solidFill>
                            <a:srgbClr val="000000"/>
                          </a:solidFill>
                          <a:latin typeface="Courier New"/>
                        </a:rPr>
                        <a:t>Role</a:t>
                      </a:r>
                    </a:p>
                  </a:txBody>
                  <a:tcPr marL="109728" marR="109728" marT="64008" marB="64008" anchor="ctr">
                    <a:solidFill>
                      <a:srgbClr val="FFFFFF"/>
                    </a:solidFill>
                  </a:tcPr>
                </a:tc>
                <a:tc>
                  <a:txBody>
                    <a:bodyPr/>
                    <a:lstStyle/>
                    <a:p>
                      <a:r>
                        <a:rPr sz="1200" b="0">
                          <a:solidFill>
                            <a:srgbClr val="3C3C3C"/>
                          </a:solidFill>
                          <a:latin typeface="Arial"/>
                        </a:rPr>
                        <a:t>LLM</a:t>
                      </a:r>
                    </a:p>
                  </a:txBody>
                  <a:tcPr marL="109728" marR="109728" marT="64008" marB="64008" anchor="ctr">
                    <a:solidFill>
                      <a:srgbClr val="FFFFFF"/>
                    </a:solidFill>
                  </a:tcPr>
                </a:tc>
                <a:tc>
                  <a:txBody>
                    <a:bodyPr/>
                    <a:lstStyle/>
                    <a:p>
                      <a:r>
                        <a:rPr sz="1200" b="0">
                          <a:solidFill>
                            <a:srgbClr val="3C3C3C"/>
                          </a:solidFill>
                          <a:latin typeface="Arial"/>
                        </a:rPr>
                        <a:t>Software Engineer</a:t>
                      </a:r>
                    </a:p>
                  </a:txBody>
                  <a:tcPr marL="109728" marR="109728" marT="64008" marB="64008" anchor="ctr">
                    <a:solidFill>
                      <a:srgbClr val="FFFFFF"/>
                    </a:solidFill>
                  </a:tcPr>
                </a:tc>
                <a:extLst>
                  <a:ext uri="{0D108BD9-81ED-4DB2-BD59-A6C34878D82A}">
                    <a16:rowId xmlns:a16="http://schemas.microsoft.com/office/drawing/2014/main" val="10003"/>
                  </a:ext>
                </a:extLst>
              </a:tr>
              <a:tr h="365760">
                <a:tc>
                  <a:txBody>
                    <a:bodyPr/>
                    <a:lstStyle/>
                    <a:p>
                      <a:r>
                        <a:rPr sz="1200" b="1">
                          <a:solidFill>
                            <a:srgbClr val="000000"/>
                          </a:solidFill>
                          <a:latin typeface="Courier New"/>
                        </a:rPr>
                        <a:t>Department</a:t>
                      </a:r>
                    </a:p>
                  </a:txBody>
                  <a:tcPr marL="109728" marR="109728" marT="64008" marB="64008" anchor="ctr">
                    <a:solidFill>
                      <a:srgbClr val="F2F2F2"/>
                    </a:solidFill>
                  </a:tcPr>
                </a:tc>
                <a:tc>
                  <a:txBody>
                    <a:bodyPr/>
                    <a:lstStyle/>
                    <a:p>
                      <a:r>
                        <a:rPr sz="1200" b="0">
                          <a:solidFill>
                            <a:srgbClr val="3C3C3C"/>
                          </a:solidFill>
                          <a:latin typeface="Arial"/>
                        </a:rPr>
                        <a:t>LLM</a:t>
                      </a:r>
                    </a:p>
                  </a:txBody>
                  <a:tcPr marL="109728" marR="109728" marT="64008" marB="64008" anchor="ctr">
                    <a:solidFill>
                      <a:srgbClr val="F2F2F2"/>
                    </a:solidFill>
                  </a:tcPr>
                </a:tc>
                <a:tc>
                  <a:txBody>
                    <a:bodyPr/>
                    <a:lstStyle/>
                    <a:p>
                      <a:r>
                        <a:rPr sz="1200" b="0">
                          <a:solidFill>
                            <a:srgbClr val="3C3C3C"/>
                          </a:solidFill>
                          <a:latin typeface="Arial"/>
                        </a:rPr>
                        <a:t>Engineering</a:t>
                      </a:r>
                    </a:p>
                  </a:txBody>
                  <a:tcPr marL="109728" marR="109728" marT="64008" marB="64008" anchor="ctr">
                    <a:solidFill>
                      <a:srgbClr val="F2F2F2"/>
                    </a:solidFill>
                  </a:tcPr>
                </a:tc>
                <a:extLst>
                  <a:ext uri="{0D108BD9-81ED-4DB2-BD59-A6C34878D82A}">
                    <a16:rowId xmlns:a16="http://schemas.microsoft.com/office/drawing/2014/main" val="10004"/>
                  </a:ext>
                </a:extLst>
              </a:tr>
              <a:tr h="365760">
                <a:tc>
                  <a:txBody>
                    <a:bodyPr/>
                    <a:lstStyle/>
                    <a:p>
                      <a:r>
                        <a:rPr sz="1200" b="1">
                          <a:solidFill>
                            <a:srgbClr val="000000"/>
                          </a:solidFill>
                          <a:latin typeface="Courier New"/>
                        </a:rPr>
                        <a:t>Skill</a:t>
                      </a:r>
                    </a:p>
                  </a:txBody>
                  <a:tcPr marL="109728" marR="109728" marT="64008" marB="64008" anchor="ctr">
                    <a:solidFill>
                      <a:srgbClr val="FFFFFF"/>
                    </a:solidFill>
                  </a:tcPr>
                </a:tc>
                <a:tc>
                  <a:txBody>
                    <a:bodyPr/>
                    <a:lstStyle/>
                    <a:p>
                      <a:r>
                        <a:rPr sz="1200" b="0">
                          <a:solidFill>
                            <a:srgbClr val="3C3C3C"/>
                          </a:solidFill>
                          <a:latin typeface="Arial"/>
                        </a:rPr>
                        <a:t>LLM</a:t>
                      </a:r>
                    </a:p>
                  </a:txBody>
                  <a:tcPr marL="109728" marR="109728" marT="64008" marB="64008" anchor="ctr">
                    <a:solidFill>
                      <a:srgbClr val="FFFFFF"/>
                    </a:solidFill>
                  </a:tcPr>
                </a:tc>
                <a:tc>
                  <a:txBody>
                    <a:bodyPr/>
                    <a:lstStyle/>
                    <a:p>
                      <a:r>
                        <a:rPr sz="1200" b="0">
                          <a:solidFill>
                            <a:srgbClr val="3C3C3C"/>
                          </a:solidFill>
                          <a:latin typeface="Arial"/>
                        </a:rPr>
                        <a:t>Python</a:t>
                      </a:r>
                    </a:p>
                  </a:txBody>
                  <a:tcPr marL="109728" marR="109728" marT="64008" marB="64008" anchor="ctr">
                    <a:solidFill>
                      <a:srgbClr val="FFFFFF"/>
                    </a:solidFill>
                  </a:tcPr>
                </a:tc>
                <a:extLst>
                  <a:ext uri="{0D108BD9-81ED-4DB2-BD59-A6C34878D82A}">
                    <a16:rowId xmlns:a16="http://schemas.microsoft.com/office/drawing/2014/main" val="10005"/>
                  </a:ext>
                </a:extLst>
              </a:tr>
              <a:tr h="365760">
                <a:tc>
                  <a:txBody>
                    <a:bodyPr/>
                    <a:lstStyle/>
                    <a:p>
                      <a:r>
                        <a:rPr sz="1200" b="1">
                          <a:solidFill>
                            <a:srgbClr val="000000"/>
                          </a:solidFill>
                          <a:latin typeface="Courier New"/>
                        </a:rPr>
                        <a:t>Policy</a:t>
                      </a:r>
                    </a:p>
                  </a:txBody>
                  <a:tcPr marL="109728" marR="109728" marT="64008" marB="64008" anchor="ctr">
                    <a:solidFill>
                      <a:srgbClr val="F2F2F2"/>
                    </a:solidFill>
                  </a:tcPr>
                </a:tc>
                <a:tc>
                  <a:txBody>
                    <a:bodyPr/>
                    <a:lstStyle/>
                    <a:p>
                      <a:r>
                        <a:rPr sz="1200" b="0">
                          <a:solidFill>
                            <a:srgbClr val="3C3C3C"/>
                          </a:solidFill>
                          <a:latin typeface="Arial"/>
                        </a:rPr>
                        <a:t>LLM</a:t>
                      </a:r>
                    </a:p>
                  </a:txBody>
                  <a:tcPr marL="109728" marR="109728" marT="64008" marB="64008" anchor="ctr">
                    <a:solidFill>
                      <a:srgbClr val="F2F2F2"/>
                    </a:solidFill>
                  </a:tcPr>
                </a:tc>
                <a:tc>
                  <a:txBody>
                    <a:bodyPr/>
                    <a:lstStyle/>
                    <a:p>
                      <a:r>
                        <a:rPr sz="1200" b="0">
                          <a:solidFill>
                            <a:srgbClr val="3C3C3C"/>
                          </a:solidFill>
                          <a:latin typeface="Arial"/>
                        </a:rPr>
                        <a:t>Remote work policy</a:t>
                      </a:r>
                    </a:p>
                  </a:txBody>
                  <a:tcPr marL="109728" marR="109728" marT="64008" marB="64008" anchor="ctr">
                    <a:solidFill>
                      <a:srgbClr val="F2F2F2"/>
                    </a:solidFill>
                  </a:tcPr>
                </a:tc>
                <a:extLst>
                  <a:ext uri="{0D108BD9-81ED-4DB2-BD59-A6C34878D82A}">
                    <a16:rowId xmlns:a16="http://schemas.microsoft.com/office/drawing/2014/main" val="10006"/>
                  </a:ext>
                </a:extLst>
              </a:tr>
              <a:tr h="365760">
                <a:tc>
                  <a:txBody>
                    <a:bodyPr/>
                    <a:lstStyle/>
                    <a:p>
                      <a:r>
                        <a:rPr sz="1200" b="1">
                          <a:solidFill>
                            <a:srgbClr val="000000"/>
                          </a:solidFill>
                          <a:latin typeface="Courier New"/>
                        </a:rPr>
                        <a:t>Plan</a:t>
                      </a:r>
                    </a:p>
                  </a:txBody>
                  <a:tcPr marL="109728" marR="109728" marT="64008" marB="64008" anchor="ctr">
                    <a:solidFill>
                      <a:srgbClr val="FFFFFF"/>
                    </a:solidFill>
                  </a:tcPr>
                </a:tc>
                <a:tc>
                  <a:txBody>
                    <a:bodyPr/>
                    <a:lstStyle/>
                    <a:p>
                      <a:r>
                        <a:rPr sz="1200" b="0">
                          <a:solidFill>
                            <a:srgbClr val="3C3C3C"/>
                          </a:solidFill>
                          <a:latin typeface="Arial"/>
                        </a:rPr>
                        <a:t>LLM</a:t>
                      </a:r>
                    </a:p>
                  </a:txBody>
                  <a:tcPr marL="109728" marR="109728" marT="64008" marB="64008" anchor="ctr">
                    <a:solidFill>
                      <a:srgbClr val="FFFFFF"/>
                    </a:solidFill>
                  </a:tcPr>
                </a:tc>
                <a:tc>
                  <a:txBody>
                    <a:bodyPr/>
                    <a:lstStyle/>
                    <a:p>
                      <a:r>
                        <a:rPr sz="1200" b="0">
                          <a:solidFill>
                            <a:srgbClr val="3C3C3C"/>
                          </a:solidFill>
                          <a:latin typeface="Arial"/>
                        </a:rPr>
                        <a:t>Northwind Health Plus</a:t>
                      </a:r>
                    </a:p>
                  </a:txBody>
                  <a:tcPr marL="109728" marR="109728" marT="64008" marB="64008" anchor="ctr">
                    <a:solidFill>
                      <a:srgbClr val="FFFFFF"/>
                    </a:solidFill>
                  </a:tcPr>
                </a:tc>
                <a:extLst>
                  <a:ext uri="{0D108BD9-81ED-4DB2-BD59-A6C34878D82A}">
                    <a16:rowId xmlns:a16="http://schemas.microsoft.com/office/drawing/2014/main" val="10007"/>
                  </a:ext>
                </a:extLst>
              </a:tr>
              <a:tr h="365760">
                <a:tc>
                  <a:txBody>
                    <a:bodyPr/>
                    <a:lstStyle/>
                    <a:p>
                      <a:r>
                        <a:rPr sz="1200" b="1">
                          <a:solidFill>
                            <a:srgbClr val="000000"/>
                          </a:solidFill>
                          <a:latin typeface="Courier New"/>
                        </a:rPr>
                        <a:t>Service</a:t>
                      </a:r>
                    </a:p>
                  </a:txBody>
                  <a:tcPr marL="109728" marR="109728" marT="64008" marB="64008" anchor="ctr">
                    <a:solidFill>
                      <a:srgbClr val="F2F2F2"/>
                    </a:solidFill>
                  </a:tcPr>
                </a:tc>
                <a:tc>
                  <a:txBody>
                    <a:bodyPr/>
                    <a:lstStyle/>
                    <a:p>
                      <a:r>
                        <a:rPr sz="1200" b="0">
                          <a:solidFill>
                            <a:srgbClr val="3C3C3C"/>
                          </a:solidFill>
                          <a:latin typeface="Arial"/>
                        </a:rPr>
                        <a:t>LLM</a:t>
                      </a:r>
                    </a:p>
                  </a:txBody>
                  <a:tcPr marL="109728" marR="109728" marT="64008" marB="64008" anchor="ctr">
                    <a:solidFill>
                      <a:srgbClr val="F2F2F2"/>
                    </a:solidFill>
                  </a:tcPr>
                </a:tc>
                <a:tc>
                  <a:txBody>
                    <a:bodyPr/>
                    <a:lstStyle/>
                    <a:p>
                      <a:r>
                        <a:rPr sz="1200" b="0">
                          <a:solidFill>
                            <a:srgbClr val="3C3C3C"/>
                          </a:solidFill>
                          <a:latin typeface="Arial"/>
                        </a:rPr>
                        <a:t>Dental care</a:t>
                      </a:r>
                    </a:p>
                  </a:txBody>
                  <a:tcPr marL="109728" marR="109728" marT="64008" marB="64008" anchor="ctr">
                    <a:solidFill>
                      <a:srgbClr val="F2F2F2"/>
                    </a:solidFill>
                  </a:tcPr>
                </a:tc>
                <a:extLst>
                  <a:ext uri="{0D108BD9-81ED-4DB2-BD59-A6C34878D82A}">
                    <a16:rowId xmlns:a16="http://schemas.microsoft.com/office/drawing/2014/main" val="10008"/>
                  </a:ext>
                </a:extLst>
              </a:tr>
            </a:tbl>
          </a:graphicData>
        </a:graphic>
      </p:graphicFrame>
      <p:sp>
        <p:nvSpPr>
          <p:cNvPr id="8" name="TextBox 7"/>
          <p:cNvSpPr txBox="1"/>
          <p:nvPr/>
        </p:nvSpPr>
        <p:spPr>
          <a:xfrm>
            <a:off x="6278727" y="1645920"/>
            <a:ext cx="5364327" cy="320040"/>
          </a:xfrm>
          <a:prstGeom prst="rect">
            <a:avLst/>
          </a:prstGeom>
          <a:noFill/>
        </p:spPr>
        <p:txBody>
          <a:bodyPr wrap="square" lIns="0" tIns="0" rIns="0" bIns="0" anchor="t">
            <a:spAutoFit/>
          </a:bodyPr>
          <a:lstStyle/>
          <a:p>
            <a:pPr algn="l"/>
            <a:r>
              <a:rPr sz="1600" b="1" i="0">
                <a:solidFill>
                  <a:srgbClr val="000000"/>
                </a:solidFill>
                <a:latin typeface="Arial"/>
              </a:rPr>
              <a:t>Relationships</a:t>
            </a:r>
          </a:p>
        </p:txBody>
      </p:sp>
      <p:graphicFrame>
        <p:nvGraphicFramePr>
          <p:cNvPr id="9" name="Table 8"/>
          <p:cNvGraphicFramePr>
            <a:graphicFrameLocks noGrp="1"/>
          </p:cNvGraphicFramePr>
          <p:nvPr/>
        </p:nvGraphicFramePr>
        <p:xfrm>
          <a:off x="6278727" y="2011680"/>
          <a:ext cx="5364327" cy="2560320"/>
        </p:xfrm>
        <a:graphic>
          <a:graphicData uri="http://schemas.openxmlformats.org/drawingml/2006/table">
            <a:tbl>
              <a:tblPr firstRow="1">
                <a:tableStyleId>{5940675A-B579-460E-94D1-54222C63F5DA}</a:tableStyleId>
              </a:tblPr>
              <a:tblGrid>
                <a:gridCol w="3246120">
                  <a:extLst>
                    <a:ext uri="{9D8B030D-6E8A-4147-A177-3AD203B41FA5}">
                      <a16:colId xmlns:a16="http://schemas.microsoft.com/office/drawing/2014/main" val="20000"/>
                    </a:ext>
                  </a:extLst>
                </a:gridCol>
                <a:gridCol w="2118207">
                  <a:extLst>
                    <a:ext uri="{9D8B030D-6E8A-4147-A177-3AD203B41FA5}">
                      <a16:colId xmlns:a16="http://schemas.microsoft.com/office/drawing/2014/main" val="20001"/>
                    </a:ext>
                  </a:extLst>
                </a:gridCol>
              </a:tblGrid>
              <a:tr h="365760">
                <a:tc>
                  <a:txBody>
                    <a:bodyPr/>
                    <a:lstStyle/>
                    <a:p>
                      <a:r>
                        <a:rPr sz="1100" b="1">
                          <a:solidFill>
                            <a:srgbClr val="FFFFFF"/>
                          </a:solidFill>
                          <a:latin typeface="Arial"/>
                        </a:rPr>
                        <a:t>Pattern</a:t>
                      </a:r>
                    </a:p>
                  </a:txBody>
                  <a:tcPr marL="109728" marR="109728" marT="64008" marB="64008" anchor="ctr">
                    <a:solidFill>
                      <a:srgbClr val="000000"/>
                    </a:solidFill>
                  </a:tcPr>
                </a:tc>
                <a:tc>
                  <a:txBody>
                    <a:bodyPr/>
                    <a:lstStyle/>
                    <a:p>
                      <a:r>
                        <a:rPr sz="1100" b="1">
                          <a:solidFill>
                            <a:srgbClr val="FFFFFF"/>
                          </a:solidFill>
                          <a:latin typeface="Arial"/>
                        </a:rPr>
                        <a:t>Meaning</a:t>
                      </a:r>
                    </a:p>
                  </a:txBody>
                  <a:tcPr marL="109728" marR="109728" marT="64008" marB="64008" anchor="ctr">
                    <a:solidFill>
                      <a:srgbClr val="000000"/>
                    </a:solidFill>
                  </a:tcPr>
                </a:tc>
                <a:extLst>
                  <a:ext uri="{0D108BD9-81ED-4DB2-BD59-A6C34878D82A}">
                    <a16:rowId xmlns:a16="http://schemas.microsoft.com/office/drawing/2014/main" val="10000"/>
                  </a:ext>
                </a:extLst>
              </a:tr>
              <a:tr h="365760">
                <a:tc>
                  <a:txBody>
                    <a:bodyPr/>
                    <a:lstStyle/>
                    <a:p>
                      <a:r>
                        <a:rPr sz="1100" b="1">
                          <a:solidFill>
                            <a:srgbClr val="000000"/>
                          </a:solidFill>
                          <a:latin typeface="Courier New"/>
                        </a:rPr>
                        <a:t>(Document)-[:HAS_CHUNK]-&gt;(Chunk)</a:t>
                      </a:r>
                    </a:p>
                  </a:txBody>
                  <a:tcPr marL="109728" marR="109728" marT="64008" marB="64008" anchor="ctr">
                    <a:solidFill>
                      <a:srgbClr val="FFFFFF"/>
                    </a:solidFill>
                  </a:tcPr>
                </a:tc>
                <a:tc>
                  <a:txBody>
                    <a:bodyPr/>
                    <a:lstStyle/>
                    <a:p>
                      <a:r>
                        <a:rPr sz="1100" b="0">
                          <a:solidFill>
                            <a:srgbClr val="3C3C3C"/>
                          </a:solidFill>
                          <a:latin typeface="Arial"/>
                        </a:rPr>
                        <a:t>Document contains chunk</a:t>
                      </a:r>
                    </a:p>
                  </a:txBody>
                  <a:tcPr marL="109728" marR="109728" marT="64008" marB="64008" anchor="ctr">
                    <a:solidFill>
                      <a:srgbClr val="FFFFFF"/>
                    </a:solidFill>
                  </a:tcPr>
                </a:tc>
                <a:extLst>
                  <a:ext uri="{0D108BD9-81ED-4DB2-BD59-A6C34878D82A}">
                    <a16:rowId xmlns:a16="http://schemas.microsoft.com/office/drawing/2014/main" val="10001"/>
                  </a:ext>
                </a:extLst>
              </a:tr>
              <a:tr h="365760">
                <a:tc>
                  <a:txBody>
                    <a:bodyPr/>
                    <a:lstStyle/>
                    <a:p>
                      <a:r>
                        <a:rPr sz="1100" b="1">
                          <a:solidFill>
                            <a:srgbClr val="000000"/>
                          </a:solidFill>
                          <a:latin typeface="Courier New"/>
                        </a:rPr>
                        <a:t>(Chunk)-[:MENTIONS]-&gt;(entity)</a:t>
                      </a:r>
                    </a:p>
                  </a:txBody>
                  <a:tcPr marL="109728" marR="109728" marT="64008" marB="64008" anchor="ctr">
                    <a:solidFill>
                      <a:srgbClr val="F2F2F2"/>
                    </a:solidFill>
                  </a:tcPr>
                </a:tc>
                <a:tc>
                  <a:txBody>
                    <a:bodyPr/>
                    <a:lstStyle/>
                    <a:p>
                      <a:r>
                        <a:rPr sz="1100" b="0">
                          <a:solidFill>
                            <a:srgbClr val="3C3C3C"/>
                          </a:solidFill>
                          <a:latin typeface="Arial"/>
                        </a:rPr>
                        <a:t>Where a fact comes from</a:t>
                      </a:r>
                    </a:p>
                  </a:txBody>
                  <a:tcPr marL="109728" marR="109728" marT="64008" marB="64008" anchor="ctr">
                    <a:solidFill>
                      <a:srgbClr val="F2F2F2"/>
                    </a:solidFill>
                  </a:tcPr>
                </a:tc>
                <a:extLst>
                  <a:ext uri="{0D108BD9-81ED-4DB2-BD59-A6C34878D82A}">
                    <a16:rowId xmlns:a16="http://schemas.microsoft.com/office/drawing/2014/main" val="10002"/>
                  </a:ext>
                </a:extLst>
              </a:tr>
              <a:tr h="365760">
                <a:tc>
                  <a:txBody>
                    <a:bodyPr/>
                    <a:lstStyle/>
                    <a:p>
                      <a:r>
                        <a:rPr sz="1100" b="1">
                          <a:solidFill>
                            <a:srgbClr val="000000"/>
                          </a:solidFill>
                          <a:latin typeface="Courier New"/>
                        </a:rPr>
                        <a:t>(Role)-[:BELONGS_TO]-&gt;(Department)</a:t>
                      </a:r>
                    </a:p>
                  </a:txBody>
                  <a:tcPr marL="109728" marR="109728" marT="64008" marB="64008" anchor="ctr">
                    <a:solidFill>
                      <a:srgbClr val="FFFFFF"/>
                    </a:solidFill>
                  </a:tcPr>
                </a:tc>
                <a:tc>
                  <a:txBody>
                    <a:bodyPr/>
                    <a:lstStyle/>
                    <a:p>
                      <a:r>
                        <a:rPr sz="1100" b="0">
                          <a:solidFill>
                            <a:srgbClr val="3C3C3C"/>
                          </a:solidFill>
                          <a:latin typeface="Arial"/>
                        </a:rPr>
                        <a:t>Role is in department</a:t>
                      </a:r>
                    </a:p>
                  </a:txBody>
                  <a:tcPr marL="109728" marR="109728" marT="64008" marB="64008" anchor="ctr">
                    <a:solidFill>
                      <a:srgbClr val="FFFFFF"/>
                    </a:solidFill>
                  </a:tcPr>
                </a:tc>
                <a:extLst>
                  <a:ext uri="{0D108BD9-81ED-4DB2-BD59-A6C34878D82A}">
                    <a16:rowId xmlns:a16="http://schemas.microsoft.com/office/drawing/2014/main" val="10003"/>
                  </a:ext>
                </a:extLst>
              </a:tr>
              <a:tr h="365760">
                <a:tc>
                  <a:txBody>
                    <a:bodyPr/>
                    <a:lstStyle/>
                    <a:p>
                      <a:r>
                        <a:rPr sz="1100" b="1">
                          <a:solidFill>
                            <a:srgbClr val="000000"/>
                          </a:solidFill>
                          <a:latin typeface="Courier New"/>
                        </a:rPr>
                        <a:t>(Role)-[:REQUIRES]-&gt;(Skill)</a:t>
                      </a:r>
                    </a:p>
                  </a:txBody>
                  <a:tcPr marL="109728" marR="109728" marT="64008" marB="64008" anchor="ctr">
                    <a:solidFill>
                      <a:srgbClr val="F2F2F2"/>
                    </a:solidFill>
                  </a:tcPr>
                </a:tc>
                <a:tc>
                  <a:txBody>
                    <a:bodyPr/>
                    <a:lstStyle/>
                    <a:p>
                      <a:r>
                        <a:rPr sz="1100" b="0">
                          <a:solidFill>
                            <a:srgbClr val="3C3C3C"/>
                          </a:solidFill>
                          <a:latin typeface="Arial"/>
                        </a:rPr>
                        <a:t>Role needs skill</a:t>
                      </a:r>
                    </a:p>
                  </a:txBody>
                  <a:tcPr marL="109728" marR="109728" marT="64008" marB="64008" anchor="ctr">
                    <a:solidFill>
                      <a:srgbClr val="F2F2F2"/>
                    </a:solidFill>
                  </a:tcPr>
                </a:tc>
                <a:extLst>
                  <a:ext uri="{0D108BD9-81ED-4DB2-BD59-A6C34878D82A}">
                    <a16:rowId xmlns:a16="http://schemas.microsoft.com/office/drawing/2014/main" val="10004"/>
                  </a:ext>
                </a:extLst>
              </a:tr>
              <a:tr h="365760">
                <a:tc>
                  <a:txBody>
                    <a:bodyPr/>
                    <a:lstStyle/>
                    <a:p>
                      <a:r>
                        <a:rPr sz="1100" b="1">
                          <a:solidFill>
                            <a:srgbClr val="000000"/>
                          </a:solidFill>
                          <a:latin typeface="Courier New"/>
                        </a:rPr>
                        <a:t>(Policy)-[:APPLIES_TO]-&gt;(Role)</a:t>
                      </a:r>
                    </a:p>
                  </a:txBody>
                  <a:tcPr marL="109728" marR="109728" marT="64008" marB="64008" anchor="ctr">
                    <a:solidFill>
                      <a:srgbClr val="FFFFFF"/>
                    </a:solidFill>
                  </a:tcPr>
                </a:tc>
                <a:tc>
                  <a:txBody>
                    <a:bodyPr/>
                    <a:lstStyle/>
                    <a:p>
                      <a:r>
                        <a:rPr sz="1100" b="0">
                          <a:solidFill>
                            <a:srgbClr val="3C3C3C"/>
                          </a:solidFill>
                          <a:latin typeface="Arial"/>
                        </a:rPr>
                        <a:t>Policy applies to role</a:t>
                      </a:r>
                    </a:p>
                  </a:txBody>
                  <a:tcPr marL="109728" marR="109728" marT="64008" marB="64008" anchor="ctr">
                    <a:solidFill>
                      <a:srgbClr val="FFFFFF"/>
                    </a:solidFill>
                  </a:tcPr>
                </a:tc>
                <a:extLst>
                  <a:ext uri="{0D108BD9-81ED-4DB2-BD59-A6C34878D82A}">
                    <a16:rowId xmlns:a16="http://schemas.microsoft.com/office/drawing/2014/main" val="10005"/>
                  </a:ext>
                </a:extLst>
              </a:tr>
              <a:tr h="365760">
                <a:tc>
                  <a:txBody>
                    <a:bodyPr/>
                    <a:lstStyle/>
                    <a:p>
                      <a:r>
                        <a:rPr sz="1100" b="1">
                          <a:solidFill>
                            <a:srgbClr val="000000"/>
                          </a:solidFill>
                          <a:latin typeface="Courier New"/>
                        </a:rPr>
                        <a:t>(Plan)-[:COVERS]-&gt;(Service)</a:t>
                      </a:r>
                    </a:p>
                  </a:txBody>
                  <a:tcPr marL="109728" marR="109728" marT="64008" marB="64008" anchor="ctr">
                    <a:solidFill>
                      <a:srgbClr val="F2F2F2"/>
                    </a:solidFill>
                  </a:tcPr>
                </a:tc>
                <a:tc>
                  <a:txBody>
                    <a:bodyPr/>
                    <a:lstStyle/>
                    <a:p>
                      <a:r>
                        <a:rPr sz="1100" b="0">
                          <a:solidFill>
                            <a:srgbClr val="3C3C3C"/>
                          </a:solidFill>
                          <a:latin typeface="Arial"/>
                        </a:rPr>
                        <a:t>Plan covers service</a:t>
                      </a:r>
                    </a:p>
                  </a:txBody>
                  <a:tcPr marL="109728" marR="109728" marT="64008" marB="64008" anchor="ctr">
                    <a:solidFill>
                      <a:srgbClr val="F2F2F2"/>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6278727" y="5074920"/>
            <a:ext cx="5364327" cy="320040"/>
          </a:xfrm>
          <a:prstGeom prst="rect">
            <a:avLst/>
          </a:prstGeom>
          <a:noFill/>
        </p:spPr>
        <p:txBody>
          <a:bodyPr wrap="square" lIns="0" tIns="0" rIns="0" bIns="0" anchor="t">
            <a:spAutoFit/>
          </a:bodyPr>
          <a:lstStyle/>
          <a:p>
            <a:pPr algn="l"/>
            <a:r>
              <a:rPr sz="1300" b="0" i="0">
                <a:solidFill>
                  <a:srgbClr val="666666"/>
                </a:solidFill>
                <a:latin typeface="Arial"/>
              </a:rPr>
              <a:t>A starting point: the team reviews it in week 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04 · PLAN</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10-week roadmap</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274320"/>
          </a:xfrm>
          <a:prstGeom prst="rect">
            <a:avLst/>
          </a:prstGeom>
          <a:noFill/>
        </p:spPr>
        <p:txBody>
          <a:bodyPr wrap="square" lIns="0" tIns="0" rIns="0" bIns="0" anchor="t">
            <a:spAutoFit/>
          </a:bodyPr>
          <a:lstStyle/>
          <a:p>
            <a:pPr algn="r"/>
            <a:r>
              <a:rPr sz="1000" b="0" i="0">
                <a:solidFill>
                  <a:srgbClr val="666666"/>
                </a:solidFill>
                <a:latin typeface="Arial"/>
              </a:rPr>
              <a:t>13</a:t>
            </a:r>
          </a:p>
        </p:txBody>
      </p:sp>
      <p:sp>
        <p:nvSpPr>
          <p:cNvPr id="6" name="Rounded Rectangle 5"/>
          <p:cNvSpPr/>
          <p:nvPr/>
        </p:nvSpPr>
        <p:spPr>
          <a:xfrm>
            <a:off x="548640" y="1737360"/>
            <a:ext cx="1696669" cy="28346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77240" y="1965960"/>
            <a:ext cx="548640" cy="548640"/>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P0</a:t>
            </a:r>
          </a:p>
        </p:txBody>
      </p:sp>
      <p:sp>
        <p:nvSpPr>
          <p:cNvPr id="9" name="TextBox 8"/>
          <p:cNvSpPr txBox="1"/>
          <p:nvPr/>
        </p:nvSpPr>
        <p:spPr>
          <a:xfrm>
            <a:off x="777240" y="3017520"/>
            <a:ext cx="1330909" cy="640080"/>
          </a:xfrm>
          <a:prstGeom prst="rect">
            <a:avLst/>
          </a:prstGeom>
          <a:noFill/>
        </p:spPr>
        <p:txBody>
          <a:bodyPr wrap="square" lIns="0" tIns="0" rIns="0" bIns="0" anchor="t">
            <a:spAutoFit/>
          </a:bodyPr>
          <a:lstStyle/>
          <a:p>
            <a:pPr algn="l"/>
            <a:r>
              <a:rPr sz="1600" b="1" i="0">
                <a:solidFill>
                  <a:srgbClr val="000000"/>
                </a:solidFill>
                <a:latin typeface="Arial"/>
              </a:rPr>
              <a:t>Setup</a:t>
            </a:r>
          </a:p>
        </p:txBody>
      </p:sp>
      <p:sp>
        <p:nvSpPr>
          <p:cNvPr id="10" name="TextBox 9"/>
          <p:cNvSpPr txBox="1"/>
          <p:nvPr/>
        </p:nvSpPr>
        <p:spPr>
          <a:xfrm>
            <a:off x="777240" y="3657600"/>
            <a:ext cx="1330909" cy="822960"/>
          </a:xfrm>
          <a:prstGeom prst="rect">
            <a:avLst/>
          </a:prstGeom>
          <a:noFill/>
        </p:spPr>
        <p:txBody>
          <a:bodyPr wrap="square" lIns="0" tIns="0" rIns="0" bIns="0" anchor="t">
            <a:spAutoFit/>
          </a:bodyPr>
          <a:lstStyle/>
          <a:p>
            <a:pPr algn="l"/>
            <a:r>
              <a:rPr sz="1200" b="0" i="0">
                <a:solidFill>
                  <a:srgbClr val="3C3C3C"/>
                </a:solidFill>
                <a:latin typeface="Arial"/>
              </a:rPr>
              <a:t>Everyone runs Neo4j and calls a Foundry model</a:t>
            </a:r>
          </a:p>
        </p:txBody>
      </p:sp>
      <p:sp>
        <p:nvSpPr>
          <p:cNvPr id="11" name="Rounded Rectangle 10"/>
          <p:cNvSpPr/>
          <p:nvPr/>
        </p:nvSpPr>
        <p:spPr>
          <a:xfrm>
            <a:off x="2428189" y="1737360"/>
            <a:ext cx="1696669" cy="28346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2656789" y="1965960"/>
            <a:ext cx="548640" cy="548640"/>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P1</a:t>
            </a:r>
          </a:p>
        </p:txBody>
      </p:sp>
      <p:sp>
        <p:nvSpPr>
          <p:cNvPr id="14" name="TextBox 13"/>
          <p:cNvSpPr txBox="1"/>
          <p:nvPr/>
        </p:nvSpPr>
        <p:spPr>
          <a:xfrm>
            <a:off x="2656789" y="3017520"/>
            <a:ext cx="1330909" cy="640080"/>
          </a:xfrm>
          <a:prstGeom prst="rect">
            <a:avLst/>
          </a:prstGeom>
          <a:noFill/>
        </p:spPr>
        <p:txBody>
          <a:bodyPr wrap="square" lIns="0" tIns="0" rIns="0" bIns="0" anchor="t">
            <a:spAutoFit/>
          </a:bodyPr>
          <a:lstStyle/>
          <a:p>
            <a:pPr algn="l"/>
            <a:r>
              <a:rPr sz="1600" b="1" i="0">
                <a:solidFill>
                  <a:srgbClr val="000000"/>
                </a:solidFill>
                <a:latin typeface="Arial"/>
              </a:rPr>
              <a:t>Basics + baseline</a:t>
            </a:r>
          </a:p>
        </p:txBody>
      </p:sp>
      <p:sp>
        <p:nvSpPr>
          <p:cNvPr id="15" name="TextBox 14"/>
          <p:cNvSpPr txBox="1"/>
          <p:nvPr/>
        </p:nvSpPr>
        <p:spPr>
          <a:xfrm>
            <a:off x="2656789" y="3657600"/>
            <a:ext cx="1330909" cy="822960"/>
          </a:xfrm>
          <a:prstGeom prst="rect">
            <a:avLst/>
          </a:prstGeom>
          <a:noFill/>
        </p:spPr>
        <p:txBody>
          <a:bodyPr wrap="square" lIns="0" tIns="0" rIns="0" bIns="0" anchor="t">
            <a:spAutoFit/>
          </a:bodyPr>
          <a:lstStyle/>
          <a:p>
            <a:pPr algn="l"/>
            <a:r>
              <a:rPr sz="1200" b="0" i="0">
                <a:solidFill>
                  <a:srgbClr val="3C3C3C"/>
                </a:solidFill>
                <a:latin typeface="Arial"/>
              </a:rPr>
              <a:t>Plain RAG agent answers with sources</a:t>
            </a:r>
          </a:p>
        </p:txBody>
      </p:sp>
      <p:sp>
        <p:nvSpPr>
          <p:cNvPr id="16" name="Rounded Rectangle 15"/>
          <p:cNvSpPr/>
          <p:nvPr/>
        </p:nvSpPr>
        <p:spPr>
          <a:xfrm>
            <a:off x="4307738" y="1737360"/>
            <a:ext cx="1696669" cy="28346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4536338" y="1965960"/>
            <a:ext cx="548640" cy="548640"/>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P2</a:t>
            </a:r>
          </a:p>
        </p:txBody>
      </p:sp>
      <p:sp>
        <p:nvSpPr>
          <p:cNvPr id="19" name="TextBox 18"/>
          <p:cNvSpPr txBox="1"/>
          <p:nvPr/>
        </p:nvSpPr>
        <p:spPr>
          <a:xfrm>
            <a:off x="4536338" y="3017520"/>
            <a:ext cx="1330909" cy="640080"/>
          </a:xfrm>
          <a:prstGeom prst="rect">
            <a:avLst/>
          </a:prstGeom>
          <a:noFill/>
        </p:spPr>
        <p:txBody>
          <a:bodyPr wrap="square" lIns="0" tIns="0" rIns="0" bIns="0" anchor="t">
            <a:spAutoFit/>
          </a:bodyPr>
          <a:lstStyle/>
          <a:p>
            <a:pPr algn="l"/>
            <a:r>
              <a:rPr sz="1600" b="1" i="0">
                <a:solidFill>
                  <a:srgbClr val="000000"/>
                </a:solidFill>
                <a:latin typeface="Arial"/>
              </a:rPr>
              <a:t>Questions + design</a:t>
            </a:r>
          </a:p>
        </p:txBody>
      </p:sp>
      <p:sp>
        <p:nvSpPr>
          <p:cNvPr id="20" name="TextBox 19"/>
          <p:cNvSpPr txBox="1"/>
          <p:nvPr/>
        </p:nvSpPr>
        <p:spPr>
          <a:xfrm>
            <a:off x="4536338" y="3657600"/>
            <a:ext cx="1330909" cy="822960"/>
          </a:xfrm>
          <a:prstGeom prst="rect">
            <a:avLst/>
          </a:prstGeom>
          <a:noFill/>
        </p:spPr>
        <p:txBody>
          <a:bodyPr wrap="square" lIns="0" tIns="0" rIns="0" bIns="0" anchor="t">
            <a:spAutoFit/>
          </a:bodyPr>
          <a:lstStyle/>
          <a:p>
            <a:pPr algn="l"/>
            <a:r>
              <a:rPr sz="1200" b="0" i="0">
                <a:solidFill>
                  <a:srgbClr val="3C3C3C"/>
                </a:solidFill>
                <a:latin typeface="Arial"/>
              </a:rPr>
              <a:t>Test questions and graph schema agreed</a:t>
            </a:r>
          </a:p>
        </p:txBody>
      </p:sp>
      <p:sp>
        <p:nvSpPr>
          <p:cNvPr id="21" name="Rounded Rectangle 20"/>
          <p:cNvSpPr/>
          <p:nvPr/>
        </p:nvSpPr>
        <p:spPr>
          <a:xfrm>
            <a:off x="6187287" y="1737360"/>
            <a:ext cx="1696669" cy="28346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415887" y="1965960"/>
            <a:ext cx="548640" cy="548640"/>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P3</a:t>
            </a:r>
          </a:p>
        </p:txBody>
      </p:sp>
      <p:sp>
        <p:nvSpPr>
          <p:cNvPr id="24" name="TextBox 23"/>
          <p:cNvSpPr txBox="1"/>
          <p:nvPr/>
        </p:nvSpPr>
        <p:spPr>
          <a:xfrm>
            <a:off x="6415887" y="3017520"/>
            <a:ext cx="1330909" cy="640080"/>
          </a:xfrm>
          <a:prstGeom prst="rect">
            <a:avLst/>
          </a:prstGeom>
          <a:noFill/>
        </p:spPr>
        <p:txBody>
          <a:bodyPr wrap="square" lIns="0" tIns="0" rIns="0" bIns="0" anchor="t">
            <a:spAutoFit/>
          </a:bodyPr>
          <a:lstStyle/>
          <a:p>
            <a:pPr algn="l"/>
            <a:r>
              <a:rPr sz="1600" b="1" i="0">
                <a:solidFill>
                  <a:srgbClr val="000000"/>
                </a:solidFill>
                <a:latin typeface="Arial"/>
              </a:rPr>
              <a:t>Knowledge graph</a:t>
            </a:r>
          </a:p>
        </p:txBody>
      </p:sp>
      <p:sp>
        <p:nvSpPr>
          <p:cNvPr id="25" name="TextBox 24"/>
          <p:cNvSpPr txBox="1"/>
          <p:nvPr/>
        </p:nvSpPr>
        <p:spPr>
          <a:xfrm>
            <a:off x="6415887" y="3657600"/>
            <a:ext cx="1330909" cy="822960"/>
          </a:xfrm>
          <a:prstGeom prst="rect">
            <a:avLst/>
          </a:prstGeom>
          <a:noFill/>
        </p:spPr>
        <p:txBody>
          <a:bodyPr wrap="square" lIns="0" tIns="0" rIns="0" bIns="0" anchor="t">
            <a:spAutoFit/>
          </a:bodyPr>
          <a:lstStyle/>
          <a:p>
            <a:pPr algn="l"/>
            <a:r>
              <a:rPr sz="1200" b="0" i="0">
                <a:solidFill>
                  <a:srgbClr val="3C3C3C"/>
                </a:solidFill>
                <a:latin typeface="Arial"/>
              </a:rPr>
              <a:t>One command builds the graph</a:t>
            </a:r>
          </a:p>
        </p:txBody>
      </p:sp>
      <p:sp>
        <p:nvSpPr>
          <p:cNvPr id="26" name="Rounded Rectangle 25"/>
          <p:cNvSpPr/>
          <p:nvPr/>
        </p:nvSpPr>
        <p:spPr>
          <a:xfrm>
            <a:off x="8066836" y="1737360"/>
            <a:ext cx="1696669" cy="28346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8295436" y="1965960"/>
            <a:ext cx="548640" cy="548640"/>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P4</a:t>
            </a:r>
          </a:p>
        </p:txBody>
      </p:sp>
      <p:sp>
        <p:nvSpPr>
          <p:cNvPr id="29" name="TextBox 28"/>
          <p:cNvSpPr txBox="1"/>
          <p:nvPr/>
        </p:nvSpPr>
        <p:spPr>
          <a:xfrm>
            <a:off x="8295436" y="3017520"/>
            <a:ext cx="1330909" cy="640080"/>
          </a:xfrm>
          <a:prstGeom prst="rect">
            <a:avLst/>
          </a:prstGeom>
          <a:noFill/>
        </p:spPr>
        <p:txBody>
          <a:bodyPr wrap="square" lIns="0" tIns="0" rIns="0" bIns="0" anchor="t">
            <a:spAutoFit/>
          </a:bodyPr>
          <a:lstStyle/>
          <a:p>
            <a:pPr algn="l"/>
            <a:r>
              <a:rPr sz="1600" b="1" i="0">
                <a:solidFill>
                  <a:srgbClr val="000000"/>
                </a:solidFill>
                <a:latin typeface="Arial"/>
              </a:rPr>
              <a:t>GraphRAG agent</a:t>
            </a:r>
          </a:p>
        </p:txBody>
      </p:sp>
      <p:sp>
        <p:nvSpPr>
          <p:cNvPr id="30" name="TextBox 29"/>
          <p:cNvSpPr txBox="1"/>
          <p:nvPr/>
        </p:nvSpPr>
        <p:spPr>
          <a:xfrm>
            <a:off x="8295436" y="3657600"/>
            <a:ext cx="1330909" cy="822960"/>
          </a:xfrm>
          <a:prstGeom prst="rect">
            <a:avLst/>
          </a:prstGeom>
          <a:noFill/>
        </p:spPr>
        <p:txBody>
          <a:bodyPr wrap="square" lIns="0" tIns="0" rIns="0" bIns="0" anchor="t">
            <a:spAutoFit/>
          </a:bodyPr>
          <a:lstStyle/>
          <a:p>
            <a:pPr algn="l"/>
            <a:r>
              <a:rPr sz="1200" b="0" i="0">
                <a:solidFill>
                  <a:srgbClr val="3C3C3C"/>
                </a:solidFill>
                <a:latin typeface="Arial"/>
              </a:rPr>
              <a:t>Beats the baseline on hard questions</a:t>
            </a:r>
          </a:p>
        </p:txBody>
      </p:sp>
      <p:sp>
        <p:nvSpPr>
          <p:cNvPr id="31" name="Rounded Rectangle 30"/>
          <p:cNvSpPr/>
          <p:nvPr/>
        </p:nvSpPr>
        <p:spPr>
          <a:xfrm>
            <a:off x="9946386" y="1737360"/>
            <a:ext cx="1696669" cy="283464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10174986" y="1965960"/>
            <a:ext cx="548640" cy="548640"/>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Arial"/>
              </a:rPr>
              <a:t>P5</a:t>
            </a:r>
          </a:p>
        </p:txBody>
      </p:sp>
      <p:sp>
        <p:nvSpPr>
          <p:cNvPr id="34" name="TextBox 33"/>
          <p:cNvSpPr txBox="1"/>
          <p:nvPr/>
        </p:nvSpPr>
        <p:spPr>
          <a:xfrm>
            <a:off x="10174986" y="3017520"/>
            <a:ext cx="1330909" cy="640080"/>
          </a:xfrm>
          <a:prstGeom prst="rect">
            <a:avLst/>
          </a:prstGeom>
          <a:noFill/>
        </p:spPr>
        <p:txBody>
          <a:bodyPr wrap="square" lIns="0" tIns="0" rIns="0" bIns="0" anchor="t">
            <a:spAutoFit/>
          </a:bodyPr>
          <a:lstStyle/>
          <a:p>
            <a:pPr algn="l"/>
            <a:r>
              <a:rPr sz="1600" b="1" i="0">
                <a:solidFill>
                  <a:srgbClr val="000000"/>
                </a:solidFill>
                <a:latin typeface="Arial"/>
              </a:rPr>
              <a:t>UI + demo</a:t>
            </a:r>
          </a:p>
        </p:txBody>
      </p:sp>
      <p:sp>
        <p:nvSpPr>
          <p:cNvPr id="35" name="TextBox 34"/>
          <p:cNvSpPr txBox="1"/>
          <p:nvPr/>
        </p:nvSpPr>
        <p:spPr>
          <a:xfrm>
            <a:off x="10174986" y="3657600"/>
            <a:ext cx="1330909" cy="822960"/>
          </a:xfrm>
          <a:prstGeom prst="rect">
            <a:avLst/>
          </a:prstGeom>
          <a:noFill/>
        </p:spPr>
        <p:txBody>
          <a:bodyPr wrap="square" lIns="0" tIns="0" rIns="0" bIns="0" anchor="t">
            <a:spAutoFit/>
          </a:bodyPr>
          <a:lstStyle/>
          <a:p>
            <a:pPr algn="l"/>
            <a:r>
              <a:rPr sz="1200" b="0" i="0">
                <a:solidFill>
                  <a:srgbClr val="3C3C3C"/>
                </a:solidFill>
                <a:latin typeface="Arial"/>
              </a:rPr>
              <a:t>Live demo and documentation</a:t>
            </a:r>
          </a:p>
        </p:txBody>
      </p:sp>
      <p:sp>
        <p:nvSpPr>
          <p:cNvPr id="36" name="Rectangle 35"/>
          <p:cNvSpPr/>
          <p:nvPr/>
        </p:nvSpPr>
        <p:spPr>
          <a:xfrm>
            <a:off x="548640" y="4937760"/>
            <a:ext cx="1109441" cy="4114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P0</a:t>
            </a:r>
          </a:p>
        </p:txBody>
      </p:sp>
      <p:sp>
        <p:nvSpPr>
          <p:cNvPr id="37" name="Rectangle 36"/>
          <p:cNvSpPr/>
          <p:nvPr/>
        </p:nvSpPr>
        <p:spPr>
          <a:xfrm>
            <a:off x="1658081" y="4937760"/>
            <a:ext cx="2218883" cy="41148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P1</a:t>
            </a:r>
          </a:p>
        </p:txBody>
      </p:sp>
      <p:sp>
        <p:nvSpPr>
          <p:cNvPr id="38" name="Rectangle 37"/>
          <p:cNvSpPr/>
          <p:nvPr/>
        </p:nvSpPr>
        <p:spPr>
          <a:xfrm>
            <a:off x="3876964" y="4937760"/>
            <a:ext cx="1109441" cy="4114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P2</a:t>
            </a:r>
          </a:p>
        </p:txBody>
      </p:sp>
      <p:sp>
        <p:nvSpPr>
          <p:cNvPr id="39" name="Rectangle 38"/>
          <p:cNvSpPr/>
          <p:nvPr/>
        </p:nvSpPr>
        <p:spPr>
          <a:xfrm>
            <a:off x="4986406" y="4937760"/>
            <a:ext cx="2218883" cy="41148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P3</a:t>
            </a:r>
          </a:p>
        </p:txBody>
      </p:sp>
      <p:sp>
        <p:nvSpPr>
          <p:cNvPr id="40" name="Rectangle 39"/>
          <p:cNvSpPr/>
          <p:nvPr/>
        </p:nvSpPr>
        <p:spPr>
          <a:xfrm>
            <a:off x="7205289" y="4937760"/>
            <a:ext cx="2218883" cy="4114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P4</a:t>
            </a:r>
          </a:p>
        </p:txBody>
      </p:sp>
      <p:sp>
        <p:nvSpPr>
          <p:cNvPr id="41" name="Rectangle 40"/>
          <p:cNvSpPr/>
          <p:nvPr/>
        </p:nvSpPr>
        <p:spPr>
          <a:xfrm>
            <a:off x="9424172" y="4937760"/>
            <a:ext cx="2218883" cy="411480"/>
          </a:xfrm>
          <a:prstGeom prst="rect">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P5</a:t>
            </a:r>
          </a:p>
        </p:txBody>
      </p:sp>
      <p:sp>
        <p:nvSpPr>
          <p:cNvPr id="42" name="TextBox 41"/>
          <p:cNvSpPr txBox="1"/>
          <p:nvPr/>
        </p:nvSpPr>
        <p:spPr>
          <a:xfrm>
            <a:off x="548640" y="5440680"/>
            <a:ext cx="1828800" cy="274320"/>
          </a:xfrm>
          <a:prstGeom prst="rect">
            <a:avLst/>
          </a:prstGeom>
          <a:noFill/>
        </p:spPr>
        <p:txBody>
          <a:bodyPr wrap="square" lIns="0" tIns="0" rIns="0" bIns="0" anchor="t">
            <a:spAutoFit/>
          </a:bodyPr>
          <a:lstStyle/>
          <a:p>
            <a:pPr algn="l"/>
            <a:r>
              <a:rPr sz="1200" b="0" i="0">
                <a:solidFill>
                  <a:srgbClr val="666666"/>
                </a:solidFill>
                <a:latin typeface="Arial"/>
              </a:rPr>
              <a:t>Week 1</a:t>
            </a:r>
          </a:p>
        </p:txBody>
      </p:sp>
      <p:sp>
        <p:nvSpPr>
          <p:cNvPr id="43" name="TextBox 42"/>
          <p:cNvSpPr txBox="1"/>
          <p:nvPr/>
        </p:nvSpPr>
        <p:spPr>
          <a:xfrm>
            <a:off x="9814255" y="5440680"/>
            <a:ext cx="1828800" cy="274320"/>
          </a:xfrm>
          <a:prstGeom prst="rect">
            <a:avLst/>
          </a:prstGeom>
          <a:noFill/>
        </p:spPr>
        <p:txBody>
          <a:bodyPr wrap="square" lIns="0" tIns="0" rIns="0" bIns="0" anchor="t">
            <a:spAutoFit/>
          </a:bodyPr>
          <a:lstStyle/>
          <a:p>
            <a:pPr algn="r"/>
            <a:r>
              <a:rPr sz="1200" b="0" i="0">
                <a:solidFill>
                  <a:srgbClr val="666666"/>
                </a:solidFill>
                <a:latin typeface="Arial"/>
              </a:rPr>
              <a:t>Week 10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04 · PLAN</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How we measure success</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153888"/>
          </a:xfrm>
          <a:prstGeom prst="rect">
            <a:avLst/>
          </a:prstGeom>
          <a:noFill/>
        </p:spPr>
        <p:txBody>
          <a:bodyPr wrap="square" lIns="0" tIns="0" rIns="0" bIns="0" anchor="t">
            <a:spAutoFit/>
          </a:bodyPr>
          <a:lstStyle/>
          <a:p>
            <a:pPr algn="r"/>
            <a:r>
              <a:rPr sz="1000" b="0" i="0" dirty="0">
                <a:solidFill>
                  <a:srgbClr val="666666"/>
                </a:solidFill>
                <a:latin typeface="Arial"/>
              </a:rPr>
              <a:t>1</a:t>
            </a:r>
            <a:r>
              <a:rPr lang="en-US" sz="1000" b="0" i="0" dirty="0">
                <a:solidFill>
                  <a:srgbClr val="666666"/>
                </a:solidFill>
                <a:latin typeface="Arial"/>
              </a:rPr>
              <a:t>4</a:t>
            </a:r>
            <a:endParaRPr sz="1000" b="0" i="0" dirty="0">
              <a:solidFill>
                <a:srgbClr val="666666"/>
              </a:solidFill>
              <a:latin typeface="Arial"/>
            </a:endParaRPr>
          </a:p>
        </p:txBody>
      </p:sp>
      <p:graphicFrame>
        <p:nvGraphicFramePr>
          <p:cNvPr id="6" name="Table 5"/>
          <p:cNvGraphicFramePr>
            <a:graphicFrameLocks noGrp="1"/>
          </p:cNvGraphicFramePr>
          <p:nvPr/>
        </p:nvGraphicFramePr>
        <p:xfrm>
          <a:off x="548640" y="1737360"/>
          <a:ext cx="6766560" cy="1987296"/>
        </p:xfrm>
        <a:graphic>
          <a:graphicData uri="http://schemas.openxmlformats.org/drawingml/2006/table">
            <a:tbl>
              <a:tblPr firstRow="1">
                <a:tableStyleId>{5940675A-B579-460E-94D1-54222C63F5DA}</a:tableStyleId>
              </a:tblPr>
              <a:tblGrid>
                <a:gridCol w="20116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65760">
                <a:tc>
                  <a:txBody>
                    <a:bodyPr/>
                    <a:lstStyle/>
                    <a:p>
                      <a:r>
                        <a:rPr sz="1300" b="1">
                          <a:solidFill>
                            <a:srgbClr val="FFFFFF"/>
                          </a:solidFill>
                          <a:latin typeface="Arial"/>
                        </a:rPr>
                        <a:t>Type</a:t>
                      </a:r>
                    </a:p>
                  </a:txBody>
                  <a:tcPr marL="109728" marR="109728" marT="64008" marB="64008" anchor="ctr">
                    <a:solidFill>
                      <a:srgbClr val="000000"/>
                    </a:solidFill>
                  </a:tcPr>
                </a:tc>
                <a:tc>
                  <a:txBody>
                    <a:bodyPr/>
                    <a:lstStyle/>
                    <a:p>
                      <a:r>
                        <a:rPr sz="1300" b="1">
                          <a:solidFill>
                            <a:srgbClr val="FFFFFF"/>
                          </a:solidFill>
                          <a:latin typeface="Arial"/>
                        </a:rPr>
                        <a:t>Example</a:t>
                      </a:r>
                    </a:p>
                  </a:txBody>
                  <a:tcPr marL="109728" marR="109728" marT="64008" marB="64008" anchor="ctr">
                    <a:solidFill>
                      <a:srgbClr val="000000"/>
                    </a:solidFill>
                  </a:tcPr>
                </a:tc>
                <a:tc>
                  <a:txBody>
                    <a:bodyPr/>
                    <a:lstStyle/>
                    <a:p>
                      <a:r>
                        <a:rPr sz="1300" b="1">
                          <a:solidFill>
                            <a:srgbClr val="FFFFFF"/>
                          </a:solidFill>
                          <a:latin typeface="Arial"/>
                        </a:rPr>
                        <a:t>Count</a:t>
                      </a:r>
                    </a:p>
                  </a:txBody>
                  <a:tcPr marL="109728" marR="109728" marT="64008" marB="64008" anchor="ctr">
                    <a:solidFill>
                      <a:srgbClr val="000000"/>
                    </a:solidFill>
                  </a:tcPr>
                </a:tc>
                <a:extLst>
                  <a:ext uri="{0D108BD9-81ED-4DB2-BD59-A6C34878D82A}">
                    <a16:rowId xmlns:a16="http://schemas.microsoft.com/office/drawing/2014/main" val="10000"/>
                  </a:ext>
                </a:extLst>
              </a:tr>
              <a:tr h="365760">
                <a:tc>
                  <a:txBody>
                    <a:bodyPr/>
                    <a:lstStyle/>
                    <a:p>
                      <a:r>
                        <a:rPr sz="1300" b="1">
                          <a:solidFill>
                            <a:srgbClr val="000000"/>
                          </a:solidFill>
                          <a:latin typeface="Arial"/>
                        </a:rPr>
                        <a:t>Simple fact</a:t>
                      </a:r>
                    </a:p>
                  </a:txBody>
                  <a:tcPr marL="109728" marR="109728" marT="64008" marB="64008" anchor="ctr">
                    <a:solidFill>
                      <a:srgbClr val="FFFFFF"/>
                    </a:solidFill>
                  </a:tcPr>
                </a:tc>
                <a:tc>
                  <a:txBody>
                    <a:bodyPr/>
                    <a:lstStyle/>
                    <a:p>
                      <a:r>
                        <a:rPr sz="1300" b="0">
                          <a:solidFill>
                            <a:srgbClr val="3C3C3C"/>
                          </a:solidFill>
                          <a:latin typeface="Arial"/>
                        </a:rPr>
                        <a:t>“What is the Health Plus deductible?”</a:t>
                      </a:r>
                    </a:p>
                  </a:txBody>
                  <a:tcPr marL="109728" marR="109728" marT="64008" marB="64008" anchor="ctr">
                    <a:solidFill>
                      <a:srgbClr val="FFFFFF"/>
                    </a:solidFill>
                  </a:tcPr>
                </a:tc>
                <a:tc>
                  <a:txBody>
                    <a:bodyPr/>
                    <a:lstStyle/>
                    <a:p>
                      <a:r>
                        <a:rPr sz="1300" b="0">
                          <a:solidFill>
                            <a:srgbClr val="3C3C3C"/>
                          </a:solidFill>
                          <a:latin typeface="Arial"/>
                        </a:rPr>
                        <a:t>~8</a:t>
                      </a:r>
                    </a:p>
                  </a:txBody>
                  <a:tcPr marL="109728" marR="109728" marT="64008" marB="64008" anchor="ctr">
                    <a:solidFill>
                      <a:srgbClr val="FFFFFF"/>
                    </a:solidFill>
                  </a:tcPr>
                </a:tc>
                <a:extLst>
                  <a:ext uri="{0D108BD9-81ED-4DB2-BD59-A6C34878D82A}">
                    <a16:rowId xmlns:a16="http://schemas.microsoft.com/office/drawing/2014/main" val="10001"/>
                  </a:ext>
                </a:extLst>
              </a:tr>
              <a:tr h="365760">
                <a:tc>
                  <a:txBody>
                    <a:bodyPr/>
                    <a:lstStyle/>
                    <a:p>
                      <a:r>
                        <a:rPr sz="1300" b="1">
                          <a:solidFill>
                            <a:srgbClr val="000000"/>
                          </a:solidFill>
                          <a:latin typeface="Arial"/>
                        </a:rPr>
                        <a:t>Comparison</a:t>
                      </a:r>
                    </a:p>
                  </a:txBody>
                  <a:tcPr marL="109728" marR="109728" marT="64008" marB="64008" anchor="ctr">
                    <a:solidFill>
                      <a:srgbClr val="F2F2F2"/>
                    </a:solidFill>
                  </a:tcPr>
                </a:tc>
                <a:tc>
                  <a:txBody>
                    <a:bodyPr/>
                    <a:lstStyle/>
                    <a:p>
                      <a:r>
                        <a:rPr sz="1300" b="0">
                          <a:solidFill>
                            <a:srgbClr val="3C3C3C"/>
                          </a:solidFill>
                          <a:latin typeface="Arial"/>
                        </a:rPr>
                        <a:t>“What does Health Plus cover that Standard doesn't?”</a:t>
                      </a:r>
                    </a:p>
                  </a:txBody>
                  <a:tcPr marL="109728" marR="109728" marT="64008" marB="64008" anchor="ctr">
                    <a:solidFill>
                      <a:srgbClr val="F2F2F2"/>
                    </a:solidFill>
                  </a:tcPr>
                </a:tc>
                <a:tc>
                  <a:txBody>
                    <a:bodyPr/>
                    <a:lstStyle/>
                    <a:p>
                      <a:r>
                        <a:rPr sz="1300" b="0">
                          <a:solidFill>
                            <a:srgbClr val="3C3C3C"/>
                          </a:solidFill>
                          <a:latin typeface="Arial"/>
                        </a:rPr>
                        <a:t>~6</a:t>
                      </a:r>
                    </a:p>
                  </a:txBody>
                  <a:tcPr marL="109728" marR="109728" marT="64008" marB="64008" anchor="ctr">
                    <a:solidFill>
                      <a:srgbClr val="F2F2F2"/>
                    </a:solidFill>
                  </a:tcPr>
                </a:tc>
                <a:extLst>
                  <a:ext uri="{0D108BD9-81ED-4DB2-BD59-A6C34878D82A}">
                    <a16:rowId xmlns:a16="http://schemas.microsoft.com/office/drawing/2014/main" val="10002"/>
                  </a:ext>
                </a:extLst>
              </a:tr>
              <a:tr h="365760">
                <a:tc>
                  <a:txBody>
                    <a:bodyPr/>
                    <a:lstStyle/>
                    <a:p>
                      <a:r>
                        <a:rPr sz="1300" b="1">
                          <a:solidFill>
                            <a:srgbClr val="000000"/>
                          </a:solidFill>
                          <a:latin typeface="Arial"/>
                        </a:rPr>
                        <a:t>List / count</a:t>
                      </a:r>
                    </a:p>
                  </a:txBody>
                  <a:tcPr marL="109728" marR="109728" marT="64008" marB="64008" anchor="ctr">
                    <a:solidFill>
                      <a:srgbClr val="FFFFFF"/>
                    </a:solidFill>
                  </a:tcPr>
                </a:tc>
                <a:tc>
                  <a:txBody>
                    <a:bodyPr/>
                    <a:lstStyle/>
                    <a:p>
                      <a:r>
                        <a:rPr sz="1300" b="0">
                          <a:solidFill>
                            <a:srgbClr val="3C3C3C"/>
                          </a:solidFill>
                          <a:latin typeface="Arial"/>
                        </a:rPr>
                        <a:t>“Which roles require Python?”</a:t>
                      </a:r>
                    </a:p>
                  </a:txBody>
                  <a:tcPr marL="109728" marR="109728" marT="64008" marB="64008" anchor="ctr">
                    <a:solidFill>
                      <a:srgbClr val="FFFFFF"/>
                    </a:solidFill>
                  </a:tcPr>
                </a:tc>
                <a:tc>
                  <a:txBody>
                    <a:bodyPr/>
                    <a:lstStyle/>
                    <a:p>
                      <a:r>
                        <a:rPr sz="1300" b="0">
                          <a:solidFill>
                            <a:srgbClr val="3C3C3C"/>
                          </a:solidFill>
                          <a:latin typeface="Arial"/>
                        </a:rPr>
                        <a:t>~6</a:t>
                      </a:r>
                    </a:p>
                  </a:txBody>
                  <a:tcPr marL="109728" marR="109728" marT="64008" marB="64008" anchor="ctr">
                    <a:solidFill>
                      <a:srgbClr val="FFFFFF"/>
                    </a:solidFill>
                  </a:tcPr>
                </a:tc>
                <a:extLst>
                  <a:ext uri="{0D108BD9-81ED-4DB2-BD59-A6C34878D82A}">
                    <a16:rowId xmlns:a16="http://schemas.microsoft.com/office/drawing/2014/main" val="10003"/>
                  </a:ext>
                </a:extLst>
              </a:tr>
              <a:tr h="365760">
                <a:tc>
                  <a:txBody>
                    <a:bodyPr/>
                    <a:lstStyle/>
                    <a:p>
                      <a:r>
                        <a:rPr sz="1300" b="1">
                          <a:solidFill>
                            <a:srgbClr val="000000"/>
                          </a:solidFill>
                          <a:latin typeface="Arial"/>
                        </a:rPr>
                        <a:t>Not in the documents</a:t>
                      </a:r>
                    </a:p>
                  </a:txBody>
                  <a:tcPr marL="109728" marR="109728" marT="64008" marB="64008" anchor="ctr">
                    <a:solidFill>
                      <a:srgbClr val="F2F2F2"/>
                    </a:solidFill>
                  </a:tcPr>
                </a:tc>
                <a:tc>
                  <a:txBody>
                    <a:bodyPr/>
                    <a:lstStyle/>
                    <a:p>
                      <a:r>
                        <a:rPr sz="1300" b="0">
                          <a:solidFill>
                            <a:srgbClr val="3C3C3C"/>
                          </a:solidFill>
                          <a:latin typeface="Arial"/>
                        </a:rPr>
                        <a:t>“What is Zava's stock price?”</a:t>
                      </a:r>
                    </a:p>
                  </a:txBody>
                  <a:tcPr marL="109728" marR="109728" marT="64008" marB="64008" anchor="ctr">
                    <a:solidFill>
                      <a:srgbClr val="F2F2F2"/>
                    </a:solidFill>
                  </a:tcPr>
                </a:tc>
                <a:tc>
                  <a:txBody>
                    <a:bodyPr/>
                    <a:lstStyle/>
                    <a:p>
                      <a:r>
                        <a:rPr sz="1300" b="0">
                          <a:solidFill>
                            <a:srgbClr val="3C3C3C"/>
                          </a:solidFill>
                          <a:latin typeface="Arial"/>
                        </a:rPr>
                        <a:t>~4</a:t>
                      </a:r>
                    </a:p>
                  </a:txBody>
                  <a:tcPr marL="109728" marR="109728" marT="64008" marB="64008" anchor="ctr">
                    <a:solidFill>
                      <a:srgbClr val="F2F2F2"/>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48640" y="3977639"/>
            <a:ext cx="6766560" cy="365760"/>
          </a:xfrm>
          <a:prstGeom prst="rect">
            <a:avLst/>
          </a:prstGeom>
          <a:noFill/>
        </p:spPr>
        <p:txBody>
          <a:bodyPr wrap="square" lIns="0" tIns="0" rIns="0" bIns="0" anchor="t">
            <a:spAutoFit/>
          </a:bodyPr>
          <a:lstStyle/>
          <a:p>
            <a:pPr algn="l"/>
            <a:r>
              <a:rPr sz="1500" b="1" i="0">
                <a:solidFill>
                  <a:srgbClr val="000000"/>
                </a:solidFill>
                <a:latin typeface="Arial"/>
              </a:rPr>
              <a:t>20–30 questions, written </a:t>
            </a:r>
            <a:r>
              <a:rPr sz="1500" b="1" i="0">
                <a:solidFill>
                  <a:srgbClr val="A100FF"/>
                </a:solidFill>
                <a:latin typeface="Arial"/>
              </a:rPr>
              <a:t>before</a:t>
            </a:r>
            <a:r>
              <a:rPr sz="1500" b="1" i="0">
                <a:solidFill>
                  <a:srgbClr val="000000"/>
                </a:solidFill>
                <a:latin typeface="Arial"/>
              </a:rPr>
              <a:t> the graph is built.</a:t>
            </a:r>
          </a:p>
        </p:txBody>
      </p:sp>
      <p:sp>
        <p:nvSpPr>
          <p:cNvPr id="8" name="Rounded Rectangle 7"/>
          <p:cNvSpPr/>
          <p:nvPr/>
        </p:nvSpPr>
        <p:spPr>
          <a:xfrm>
            <a:off x="7680960" y="1737360"/>
            <a:ext cx="3962095" cy="3429000"/>
          </a:xfrm>
          <a:prstGeom prst="roundRect">
            <a:avLst>
              <a:gd name="adj" fmla="val 8000"/>
            </a:avLst>
          </a:prstGeom>
          <a:solidFill>
            <a:srgbClr val="F3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001000" y="2011680"/>
            <a:ext cx="3383280" cy="365760"/>
          </a:xfrm>
          <a:prstGeom prst="rect">
            <a:avLst/>
          </a:prstGeom>
          <a:noFill/>
        </p:spPr>
        <p:txBody>
          <a:bodyPr wrap="square" lIns="0" tIns="0" rIns="0" bIns="0" anchor="t">
            <a:spAutoFit/>
          </a:bodyPr>
          <a:lstStyle/>
          <a:p>
            <a:pPr algn="l"/>
            <a:r>
              <a:rPr sz="1800" b="1" i="0">
                <a:solidFill>
                  <a:srgbClr val="000000"/>
                </a:solidFill>
                <a:latin typeface="Arial"/>
              </a:rPr>
              <a:t>Each answer is scored</a:t>
            </a:r>
          </a:p>
        </p:txBody>
      </p:sp>
      <p:sp>
        <p:nvSpPr>
          <p:cNvPr id="10" name="TextBox 9"/>
          <p:cNvSpPr txBox="1"/>
          <p:nvPr/>
        </p:nvSpPr>
        <p:spPr>
          <a:xfrm>
            <a:off x="8001000" y="2468880"/>
            <a:ext cx="3383280" cy="1280160"/>
          </a:xfrm>
          <a:prstGeom prst="rect">
            <a:avLst/>
          </a:prstGeom>
          <a:noFill/>
        </p:spPr>
        <p:txBody>
          <a:bodyPr wrap="square" lIns="0" tIns="0" rIns="0" bIns="0" anchor="t">
            <a:spAutoFit/>
          </a:bodyPr>
          <a:lstStyle/>
          <a:p>
            <a:pPr marL="256032" indent="-256032" algn="l">
              <a:spcAft>
                <a:spcPts val="600"/>
              </a:spcAft>
              <a:buFont typeface="Arial"/>
              <a:buChar char="•"/>
            </a:pPr>
            <a:r>
              <a:rPr sz="1400" b="0" i="0">
                <a:solidFill>
                  <a:srgbClr val="3C3C3C"/>
                </a:solidFill>
                <a:latin typeface="Arial"/>
              </a:rPr>
              <a:t>Correct, partly correct or wrong</a:t>
            </a:r>
          </a:p>
          <a:p>
            <a:pPr marL="256032" indent="-256032" algn="l">
              <a:spcAft>
                <a:spcPts val="600"/>
              </a:spcAft>
              <a:buFont typeface="Arial"/>
              <a:buChar char="•"/>
            </a:pPr>
            <a:r>
              <a:rPr sz="1400" b="0" i="0">
                <a:solidFill>
                  <a:srgbClr val="3C3C3C"/>
                </a:solidFill>
                <a:latin typeface="Arial"/>
              </a:rPr>
              <a:t>Right sources cited?</a:t>
            </a:r>
          </a:p>
          <a:p>
            <a:pPr marL="256032" indent="-256032" algn="l">
              <a:spcAft>
                <a:spcPts val="600"/>
              </a:spcAft>
              <a:buFont typeface="Arial"/>
              <a:buChar char="•"/>
            </a:pPr>
            <a:r>
              <a:rPr sz="1400" b="0" i="0">
                <a:solidFill>
                  <a:srgbClr val="3C3C3C"/>
                </a:solidFill>
                <a:latin typeface="Arial"/>
              </a:rPr>
              <a:t>Sensible tool chosen?</a:t>
            </a:r>
          </a:p>
        </p:txBody>
      </p:sp>
      <p:sp>
        <p:nvSpPr>
          <p:cNvPr id="11" name="TextBox 10"/>
          <p:cNvSpPr txBox="1"/>
          <p:nvPr/>
        </p:nvSpPr>
        <p:spPr>
          <a:xfrm>
            <a:off x="8001000" y="3611880"/>
            <a:ext cx="3383280" cy="365760"/>
          </a:xfrm>
          <a:prstGeom prst="rect">
            <a:avLst/>
          </a:prstGeom>
          <a:noFill/>
        </p:spPr>
        <p:txBody>
          <a:bodyPr wrap="square" lIns="0" tIns="0" rIns="0" bIns="0" anchor="t">
            <a:spAutoFit/>
          </a:bodyPr>
          <a:lstStyle/>
          <a:p>
            <a:pPr algn="l"/>
            <a:r>
              <a:rPr sz="1800" b="1" i="0">
                <a:solidFill>
                  <a:srgbClr val="000000"/>
                </a:solidFill>
                <a:latin typeface="Arial"/>
              </a:rPr>
              <a:t>Target</a:t>
            </a:r>
          </a:p>
        </p:txBody>
      </p:sp>
      <p:sp>
        <p:nvSpPr>
          <p:cNvPr id="12" name="TextBox 11"/>
          <p:cNvSpPr txBox="1"/>
          <p:nvPr/>
        </p:nvSpPr>
        <p:spPr>
          <a:xfrm>
            <a:off x="8001000" y="4023360"/>
            <a:ext cx="3383280" cy="914400"/>
          </a:xfrm>
          <a:prstGeom prst="rect">
            <a:avLst/>
          </a:prstGeom>
          <a:noFill/>
        </p:spPr>
        <p:txBody>
          <a:bodyPr wrap="square" lIns="0" tIns="0" rIns="0" bIns="0" anchor="t">
            <a:spAutoFit/>
          </a:bodyPr>
          <a:lstStyle/>
          <a:p>
            <a:pPr algn="l"/>
            <a:r>
              <a:rPr sz="1400" b="0" i="0">
                <a:solidFill>
                  <a:srgbClr val="3C3C3C"/>
                </a:solidFill>
                <a:latin typeface="Arial"/>
              </a:rPr>
              <a:t>GraphRAG beats the baseline on comparison and list questions.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04 · PLAN</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Scope: a learning project, not production</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153888"/>
          </a:xfrm>
          <a:prstGeom prst="rect">
            <a:avLst/>
          </a:prstGeom>
          <a:noFill/>
        </p:spPr>
        <p:txBody>
          <a:bodyPr wrap="square" lIns="0" tIns="0" rIns="0" bIns="0" anchor="t">
            <a:spAutoFit/>
          </a:bodyPr>
          <a:lstStyle/>
          <a:p>
            <a:pPr algn="r"/>
            <a:r>
              <a:rPr sz="1000" b="0" i="0" dirty="0">
                <a:solidFill>
                  <a:srgbClr val="666666"/>
                </a:solidFill>
                <a:latin typeface="Arial"/>
              </a:rPr>
              <a:t>1</a:t>
            </a:r>
            <a:r>
              <a:rPr lang="en-US" sz="1000" b="0" i="0" dirty="0">
                <a:solidFill>
                  <a:srgbClr val="666666"/>
                </a:solidFill>
                <a:latin typeface="Arial"/>
              </a:rPr>
              <a:t>5</a:t>
            </a:r>
            <a:endParaRPr sz="1000" b="0" i="0" dirty="0">
              <a:solidFill>
                <a:srgbClr val="666666"/>
              </a:solidFill>
              <a:latin typeface="Arial"/>
            </a:endParaRPr>
          </a:p>
        </p:txBody>
      </p:sp>
      <p:sp>
        <p:nvSpPr>
          <p:cNvPr id="6" name="Rounded Rectangle 5"/>
          <p:cNvSpPr/>
          <p:nvPr/>
        </p:nvSpPr>
        <p:spPr>
          <a:xfrm>
            <a:off x="548640" y="1737360"/>
            <a:ext cx="5364327" cy="4023360"/>
          </a:xfrm>
          <a:prstGeom prst="roundRect">
            <a:avLst>
              <a:gd name="adj" fmla="val 8000"/>
            </a:avLst>
          </a:prstGeom>
          <a:solidFill>
            <a:srgbClr val="FFFFFF"/>
          </a:solidFill>
          <a:ln w="254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914400" y="2057400"/>
            <a:ext cx="502920" cy="502920"/>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Segoe UI Symbol"/>
              </a:rPr>
              <a:t>✓</a:t>
            </a:r>
          </a:p>
        </p:txBody>
      </p:sp>
      <p:sp>
        <p:nvSpPr>
          <p:cNvPr id="8" name="TextBox 7"/>
          <p:cNvSpPr txBox="1"/>
          <p:nvPr/>
        </p:nvSpPr>
        <p:spPr>
          <a:xfrm>
            <a:off x="1600200" y="2103120"/>
            <a:ext cx="3992727" cy="457200"/>
          </a:xfrm>
          <a:prstGeom prst="rect">
            <a:avLst/>
          </a:prstGeom>
          <a:noFill/>
        </p:spPr>
        <p:txBody>
          <a:bodyPr wrap="square" lIns="0" tIns="0" rIns="0" bIns="0" anchor="t">
            <a:spAutoFit/>
          </a:bodyPr>
          <a:lstStyle/>
          <a:p>
            <a:pPr algn="l"/>
            <a:r>
              <a:rPr sz="2200" b="1" i="0">
                <a:solidFill>
                  <a:srgbClr val="000000"/>
                </a:solidFill>
                <a:latin typeface="Arial"/>
              </a:rPr>
              <a:t>In scope</a:t>
            </a:r>
          </a:p>
        </p:txBody>
      </p:sp>
      <p:sp>
        <p:nvSpPr>
          <p:cNvPr id="9" name="TextBox 8"/>
          <p:cNvSpPr txBox="1"/>
          <p:nvPr/>
        </p:nvSpPr>
        <p:spPr>
          <a:xfrm>
            <a:off x="914400" y="2880360"/>
            <a:ext cx="4632807" cy="2743200"/>
          </a:xfrm>
          <a:prstGeom prst="rect">
            <a:avLst/>
          </a:prstGeom>
          <a:noFill/>
        </p:spPr>
        <p:txBody>
          <a:bodyPr wrap="square" lIns="0" tIns="0" rIns="0" bIns="0" anchor="t">
            <a:spAutoFit/>
          </a:bodyPr>
          <a:lstStyle/>
          <a:p>
            <a:pPr marL="256032" indent="-256032" algn="l">
              <a:spcAft>
                <a:spcPts val="1000"/>
              </a:spcAft>
              <a:buFont typeface="Arial"/>
              <a:buChar char="•"/>
            </a:pPr>
            <a:r>
              <a:rPr sz="1800" b="0" i="0">
                <a:solidFill>
                  <a:srgbClr val="3C3C3C"/>
                </a:solidFill>
                <a:latin typeface="Arial"/>
              </a:rPr>
              <a:t>Microsoft Foundry models + agent</a:t>
            </a:r>
          </a:p>
          <a:p>
            <a:pPr marL="256032" indent="-256032" algn="l">
              <a:spcAft>
                <a:spcPts val="1000"/>
              </a:spcAft>
              <a:buFont typeface="Arial"/>
              <a:buChar char="•"/>
            </a:pPr>
            <a:r>
              <a:rPr sz="1800" b="0" i="0">
                <a:solidFill>
                  <a:srgbClr val="3C3C3C"/>
                </a:solidFill>
                <a:latin typeface="Arial"/>
              </a:rPr>
              <a:t>Azure AI Document Intelligence</a:t>
            </a:r>
          </a:p>
          <a:p>
            <a:pPr marL="256032" indent="-256032" algn="l">
              <a:spcAft>
                <a:spcPts val="1000"/>
              </a:spcAft>
              <a:buFont typeface="Arial"/>
              <a:buChar char="•"/>
            </a:pPr>
            <a:r>
              <a:rPr sz="1800" b="0" i="0">
                <a:solidFill>
                  <a:srgbClr val="3C3C3C"/>
                </a:solidFill>
                <a:latin typeface="Arial"/>
              </a:rPr>
              <a:t>Neo4j knowledge graph</a:t>
            </a:r>
          </a:p>
          <a:p>
            <a:pPr marL="256032" indent="-256032" algn="l">
              <a:spcAft>
                <a:spcPts val="1000"/>
              </a:spcAft>
              <a:buFont typeface="Arial"/>
              <a:buChar char="•"/>
            </a:pPr>
            <a:r>
              <a:rPr sz="1800" b="0" i="0">
                <a:solidFill>
                  <a:srgbClr val="3C3C3C"/>
                </a:solidFill>
                <a:latin typeface="Arial"/>
              </a:rPr>
              <a:t>Streamlit chat UI</a:t>
            </a:r>
          </a:p>
          <a:p>
            <a:pPr marL="256032" indent="-256032" algn="l">
              <a:spcAft>
                <a:spcPts val="1000"/>
              </a:spcAft>
              <a:buFont typeface="Arial"/>
              <a:buChar char="•"/>
            </a:pPr>
            <a:r>
              <a:rPr sz="1800" b="0" i="0">
                <a:solidFill>
                  <a:srgbClr val="3C3C3C"/>
                </a:solidFill>
                <a:latin typeface="Arial"/>
              </a:rPr>
              <a:t>Test questions + comparison</a:t>
            </a:r>
          </a:p>
        </p:txBody>
      </p:sp>
      <p:sp>
        <p:nvSpPr>
          <p:cNvPr id="10" name="Rounded Rectangle 9"/>
          <p:cNvSpPr/>
          <p:nvPr/>
        </p:nvSpPr>
        <p:spPr>
          <a:xfrm>
            <a:off x="6278727" y="1737360"/>
            <a:ext cx="5364327" cy="40233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644487" y="2057400"/>
            <a:ext cx="502920" cy="502920"/>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Segoe UI Symbol"/>
              </a:rPr>
              <a:t>✕</a:t>
            </a:r>
          </a:p>
        </p:txBody>
      </p:sp>
      <p:sp>
        <p:nvSpPr>
          <p:cNvPr id="12" name="TextBox 11"/>
          <p:cNvSpPr txBox="1"/>
          <p:nvPr/>
        </p:nvSpPr>
        <p:spPr>
          <a:xfrm>
            <a:off x="7330287" y="2103120"/>
            <a:ext cx="3992727" cy="457200"/>
          </a:xfrm>
          <a:prstGeom prst="rect">
            <a:avLst/>
          </a:prstGeom>
          <a:noFill/>
        </p:spPr>
        <p:txBody>
          <a:bodyPr wrap="square" lIns="0" tIns="0" rIns="0" bIns="0" anchor="t">
            <a:spAutoFit/>
          </a:bodyPr>
          <a:lstStyle/>
          <a:p>
            <a:pPr algn="l"/>
            <a:r>
              <a:rPr sz="2200" b="1" i="0">
                <a:solidFill>
                  <a:srgbClr val="000000"/>
                </a:solidFill>
                <a:latin typeface="Arial"/>
              </a:rPr>
              <a:t>Out of scope</a:t>
            </a:r>
          </a:p>
        </p:txBody>
      </p:sp>
      <p:sp>
        <p:nvSpPr>
          <p:cNvPr id="13" name="TextBox 12"/>
          <p:cNvSpPr txBox="1"/>
          <p:nvPr/>
        </p:nvSpPr>
        <p:spPr>
          <a:xfrm>
            <a:off x="6644487" y="2880360"/>
            <a:ext cx="4632807" cy="2743200"/>
          </a:xfrm>
          <a:prstGeom prst="rect">
            <a:avLst/>
          </a:prstGeom>
          <a:noFill/>
        </p:spPr>
        <p:txBody>
          <a:bodyPr wrap="square" lIns="0" tIns="0" rIns="0" bIns="0" anchor="t">
            <a:spAutoFit/>
          </a:bodyPr>
          <a:lstStyle/>
          <a:p>
            <a:pPr marL="256032" indent="-256032" algn="l">
              <a:spcAft>
                <a:spcPts val="1000"/>
              </a:spcAft>
              <a:buFont typeface="Arial"/>
              <a:buChar char="•"/>
            </a:pPr>
            <a:r>
              <a:rPr sz="1800" b="0" i="0">
                <a:solidFill>
                  <a:srgbClr val="3C3C3C"/>
                </a:solidFill>
                <a:latin typeface="Arial"/>
              </a:rPr>
              <a:t>Hosting the app in Azure</a:t>
            </a:r>
          </a:p>
          <a:p>
            <a:pPr marL="256032" indent="-256032" algn="l">
              <a:spcAft>
                <a:spcPts val="1000"/>
              </a:spcAft>
              <a:buFont typeface="Arial"/>
              <a:buChar char="•"/>
            </a:pPr>
            <a:r>
              <a:rPr sz="1800" b="0" i="0">
                <a:solidFill>
                  <a:srgbClr val="3C3C3C"/>
                </a:solidFill>
                <a:latin typeface="Arial"/>
              </a:rPr>
              <a:t>Infrastructure as code</a:t>
            </a:r>
          </a:p>
          <a:p>
            <a:pPr marL="256032" indent="-256032" algn="l">
              <a:spcAft>
                <a:spcPts val="1000"/>
              </a:spcAft>
              <a:buFont typeface="Arial"/>
              <a:buChar char="•"/>
            </a:pPr>
            <a:r>
              <a:rPr sz="1800" b="0" i="0">
                <a:solidFill>
                  <a:srgbClr val="3C3C3C"/>
                </a:solidFill>
                <a:latin typeface="Arial"/>
              </a:rPr>
              <a:t>CI/CD pipelines</a:t>
            </a:r>
          </a:p>
          <a:p>
            <a:pPr marL="256032" indent="-256032" algn="l">
              <a:spcAft>
                <a:spcPts val="1000"/>
              </a:spcAft>
              <a:buFont typeface="Arial"/>
              <a:buChar char="•"/>
            </a:pPr>
            <a:r>
              <a:rPr sz="1800" b="0" i="0">
                <a:solidFill>
                  <a:srgbClr val="3C3C3C"/>
                </a:solidFill>
                <a:latin typeface="Arial"/>
              </a:rPr>
              <a:t>Key Vault, Managed Identity</a:t>
            </a:r>
          </a:p>
          <a:p>
            <a:pPr marL="256032" indent="-256032" algn="l">
              <a:spcAft>
                <a:spcPts val="1000"/>
              </a:spcAft>
              <a:buFont typeface="Arial"/>
              <a:buChar char="•"/>
            </a:pPr>
            <a:r>
              <a:rPr sz="1800" b="0" i="0">
                <a:solidFill>
                  <a:srgbClr val="3C3C3C"/>
                </a:solidFill>
                <a:latin typeface="Arial"/>
              </a:rPr>
              <a:t>Monitoring, production hardening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05 · KICKOFF</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How we work</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153888"/>
          </a:xfrm>
          <a:prstGeom prst="rect">
            <a:avLst/>
          </a:prstGeom>
          <a:noFill/>
        </p:spPr>
        <p:txBody>
          <a:bodyPr wrap="square" lIns="0" tIns="0" rIns="0" bIns="0" anchor="t">
            <a:spAutoFit/>
          </a:bodyPr>
          <a:lstStyle/>
          <a:p>
            <a:pPr algn="r"/>
            <a:r>
              <a:rPr sz="1000" b="0" i="0" dirty="0">
                <a:solidFill>
                  <a:srgbClr val="666666"/>
                </a:solidFill>
                <a:latin typeface="Arial"/>
              </a:rPr>
              <a:t>1</a:t>
            </a:r>
            <a:r>
              <a:rPr lang="en-US" sz="1000" b="0" i="0" dirty="0">
                <a:solidFill>
                  <a:srgbClr val="666666"/>
                </a:solidFill>
                <a:latin typeface="Arial"/>
              </a:rPr>
              <a:t>6</a:t>
            </a:r>
            <a:endParaRPr sz="1000" b="0" i="0" dirty="0">
              <a:solidFill>
                <a:srgbClr val="666666"/>
              </a:solidFill>
              <a:latin typeface="Arial"/>
            </a:endParaRPr>
          </a:p>
        </p:txBody>
      </p:sp>
      <p:sp>
        <p:nvSpPr>
          <p:cNvPr id="6" name="Rounded Rectangle 5"/>
          <p:cNvSpPr/>
          <p:nvPr/>
        </p:nvSpPr>
        <p:spPr>
          <a:xfrm>
            <a:off x="548640" y="1737360"/>
            <a:ext cx="5364327"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1920240"/>
            <a:ext cx="4724247" cy="274320"/>
          </a:xfrm>
          <a:prstGeom prst="rect">
            <a:avLst/>
          </a:prstGeom>
          <a:noFill/>
        </p:spPr>
        <p:txBody>
          <a:bodyPr wrap="square" lIns="0" tIns="0" rIns="0" bIns="0" anchor="t">
            <a:spAutoFit/>
          </a:bodyPr>
          <a:lstStyle/>
          <a:p>
            <a:pPr algn="l"/>
            <a:r>
              <a:rPr sz="1200" b="1" i="0" spc="200" dirty="0">
                <a:solidFill>
                  <a:srgbClr val="A100FF"/>
                </a:solidFill>
                <a:latin typeface="Arial"/>
              </a:rPr>
              <a:t>WEEKS 1–4</a:t>
            </a:r>
          </a:p>
        </p:txBody>
      </p:sp>
      <p:sp>
        <p:nvSpPr>
          <p:cNvPr id="8" name="TextBox 7"/>
          <p:cNvSpPr txBox="1"/>
          <p:nvPr/>
        </p:nvSpPr>
        <p:spPr>
          <a:xfrm>
            <a:off x="868680" y="2212848"/>
            <a:ext cx="4724247" cy="365760"/>
          </a:xfrm>
          <a:prstGeom prst="rect">
            <a:avLst/>
          </a:prstGeom>
          <a:noFill/>
        </p:spPr>
        <p:txBody>
          <a:bodyPr wrap="square" lIns="0" tIns="0" rIns="0" bIns="0" anchor="t">
            <a:spAutoFit/>
          </a:bodyPr>
          <a:lstStyle/>
          <a:p>
            <a:pPr algn="l"/>
            <a:r>
              <a:rPr sz="2000" b="1" i="0">
                <a:solidFill>
                  <a:srgbClr val="000000"/>
                </a:solidFill>
                <a:latin typeface="Arial"/>
              </a:rPr>
              <a:t>Together</a:t>
            </a:r>
          </a:p>
        </p:txBody>
      </p:sp>
      <p:sp>
        <p:nvSpPr>
          <p:cNvPr id="9" name="TextBox 8"/>
          <p:cNvSpPr txBox="1"/>
          <p:nvPr/>
        </p:nvSpPr>
        <p:spPr>
          <a:xfrm>
            <a:off x="868680" y="2624328"/>
            <a:ext cx="4724247" cy="365760"/>
          </a:xfrm>
          <a:prstGeom prst="rect">
            <a:avLst/>
          </a:prstGeom>
          <a:noFill/>
        </p:spPr>
        <p:txBody>
          <a:bodyPr wrap="square" lIns="0" tIns="0" rIns="0" bIns="0" anchor="t">
            <a:spAutoFit/>
          </a:bodyPr>
          <a:lstStyle/>
          <a:p>
            <a:pPr algn="l"/>
            <a:r>
              <a:rPr sz="1400" b="0" i="0">
                <a:solidFill>
                  <a:srgbClr val="3C3C3C"/>
                </a:solidFill>
                <a:latin typeface="Arial"/>
              </a:rPr>
              <a:t>Everyone works on the same tasks</a:t>
            </a:r>
          </a:p>
        </p:txBody>
      </p:sp>
      <p:sp>
        <p:nvSpPr>
          <p:cNvPr id="10" name="Rounded Rectangle 9"/>
          <p:cNvSpPr/>
          <p:nvPr/>
        </p:nvSpPr>
        <p:spPr>
          <a:xfrm>
            <a:off x="548640" y="3291840"/>
            <a:ext cx="2545003" cy="1554480"/>
          </a:xfrm>
          <a:prstGeom prst="roundRect">
            <a:avLst>
              <a:gd name="adj" fmla="val 8000"/>
            </a:avLst>
          </a:prstGeom>
          <a:solidFill>
            <a:srgbClr val="FFFFFF"/>
          </a:solid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22959" y="3767328"/>
            <a:ext cx="1996363" cy="365760"/>
          </a:xfrm>
          <a:prstGeom prst="rect">
            <a:avLst/>
          </a:prstGeom>
          <a:noFill/>
        </p:spPr>
        <p:txBody>
          <a:bodyPr wrap="square" lIns="0" tIns="0" rIns="0" bIns="0" anchor="t">
            <a:spAutoFit/>
          </a:bodyPr>
          <a:lstStyle/>
          <a:p>
            <a:pPr algn="l"/>
            <a:r>
              <a:rPr sz="2000" b="1" i="0">
                <a:solidFill>
                  <a:srgbClr val="000000"/>
                </a:solidFill>
                <a:latin typeface="Arial"/>
              </a:rPr>
              <a:t>Track A</a:t>
            </a:r>
          </a:p>
        </p:txBody>
      </p:sp>
      <p:sp>
        <p:nvSpPr>
          <p:cNvPr id="13" name="TextBox 12"/>
          <p:cNvSpPr txBox="1"/>
          <p:nvPr/>
        </p:nvSpPr>
        <p:spPr>
          <a:xfrm>
            <a:off x="822959" y="4178808"/>
            <a:ext cx="1996363" cy="548640"/>
          </a:xfrm>
          <a:prstGeom prst="rect">
            <a:avLst/>
          </a:prstGeom>
          <a:noFill/>
        </p:spPr>
        <p:txBody>
          <a:bodyPr wrap="square" lIns="0" tIns="0" rIns="0" bIns="0" anchor="t">
            <a:spAutoFit/>
          </a:bodyPr>
          <a:lstStyle/>
          <a:p>
            <a:pPr algn="l"/>
            <a:r>
              <a:rPr sz="1400" b="0" i="0">
                <a:solidFill>
                  <a:srgbClr val="3C3C3C"/>
                </a:solidFill>
                <a:latin typeface="Arial"/>
              </a:rPr>
              <a:t>Knowledge graph + tools</a:t>
            </a:r>
          </a:p>
        </p:txBody>
      </p:sp>
      <p:sp>
        <p:nvSpPr>
          <p:cNvPr id="14" name="Rounded Rectangle 13"/>
          <p:cNvSpPr/>
          <p:nvPr/>
        </p:nvSpPr>
        <p:spPr>
          <a:xfrm>
            <a:off x="3367963" y="3291840"/>
            <a:ext cx="2545003" cy="1554480"/>
          </a:xfrm>
          <a:prstGeom prst="roundRect">
            <a:avLst>
              <a:gd name="adj" fmla="val 8000"/>
            </a:avLst>
          </a:prstGeom>
          <a:solidFill>
            <a:srgbClr val="FFFFFF"/>
          </a:solidFill>
          <a:ln w="254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642283" y="3767328"/>
            <a:ext cx="1996363" cy="365760"/>
          </a:xfrm>
          <a:prstGeom prst="rect">
            <a:avLst/>
          </a:prstGeom>
          <a:noFill/>
        </p:spPr>
        <p:txBody>
          <a:bodyPr wrap="square" lIns="0" tIns="0" rIns="0" bIns="0" anchor="t">
            <a:spAutoFit/>
          </a:bodyPr>
          <a:lstStyle/>
          <a:p>
            <a:pPr algn="l"/>
            <a:r>
              <a:rPr sz="2000" b="1" i="0">
                <a:solidFill>
                  <a:srgbClr val="000000"/>
                </a:solidFill>
                <a:latin typeface="Arial"/>
              </a:rPr>
              <a:t>Track B</a:t>
            </a:r>
          </a:p>
        </p:txBody>
      </p:sp>
      <p:sp>
        <p:nvSpPr>
          <p:cNvPr id="17" name="TextBox 16"/>
          <p:cNvSpPr txBox="1"/>
          <p:nvPr/>
        </p:nvSpPr>
        <p:spPr>
          <a:xfrm>
            <a:off x="3642283" y="4178808"/>
            <a:ext cx="1996363" cy="548640"/>
          </a:xfrm>
          <a:prstGeom prst="rect">
            <a:avLst/>
          </a:prstGeom>
          <a:noFill/>
        </p:spPr>
        <p:txBody>
          <a:bodyPr wrap="square" lIns="0" tIns="0" rIns="0" bIns="0" anchor="t">
            <a:spAutoFit/>
          </a:bodyPr>
          <a:lstStyle/>
          <a:p>
            <a:pPr algn="l"/>
            <a:r>
              <a:rPr sz="1400" b="0" i="0">
                <a:solidFill>
                  <a:srgbClr val="3C3C3C"/>
                </a:solidFill>
                <a:latin typeface="Arial"/>
              </a:rPr>
              <a:t>Agent, evaluation + docs</a:t>
            </a:r>
          </a:p>
        </p:txBody>
      </p:sp>
      <p:graphicFrame>
        <p:nvGraphicFramePr>
          <p:cNvPr id="18" name="Table 17"/>
          <p:cNvGraphicFramePr>
            <a:graphicFrameLocks noGrp="1"/>
          </p:cNvGraphicFramePr>
          <p:nvPr>
            <p:extLst>
              <p:ext uri="{D42A27DB-BD31-4B8C-83A1-F6EECF244321}">
                <p14:modId xmlns:p14="http://schemas.microsoft.com/office/powerpoint/2010/main" val="1731331359"/>
              </p:ext>
            </p:extLst>
          </p:nvPr>
        </p:nvGraphicFramePr>
        <p:xfrm>
          <a:off x="6278727" y="1737360"/>
          <a:ext cx="5364327" cy="1828800"/>
        </p:xfrm>
        <a:graphic>
          <a:graphicData uri="http://schemas.openxmlformats.org/drawingml/2006/table">
            <a:tbl>
              <a:tblPr firstRow="1">
                <a:tableStyleId>{5940675A-B579-460E-94D1-54222C63F5DA}</a:tableStyleId>
              </a:tblPr>
              <a:tblGrid>
                <a:gridCol w="2194560">
                  <a:extLst>
                    <a:ext uri="{9D8B030D-6E8A-4147-A177-3AD203B41FA5}">
                      <a16:colId xmlns:a16="http://schemas.microsoft.com/office/drawing/2014/main" val="20000"/>
                    </a:ext>
                  </a:extLst>
                </a:gridCol>
                <a:gridCol w="3169767">
                  <a:extLst>
                    <a:ext uri="{9D8B030D-6E8A-4147-A177-3AD203B41FA5}">
                      <a16:colId xmlns:a16="http://schemas.microsoft.com/office/drawing/2014/main" val="20001"/>
                    </a:ext>
                  </a:extLst>
                </a:gridCol>
              </a:tblGrid>
              <a:tr h="365760">
                <a:tc>
                  <a:txBody>
                    <a:bodyPr/>
                    <a:lstStyle/>
                    <a:p>
                      <a:r>
                        <a:rPr sz="1500" b="1">
                          <a:solidFill>
                            <a:srgbClr val="FFFFFF"/>
                          </a:solidFill>
                          <a:latin typeface="Arial"/>
                        </a:rPr>
                        <a:t>What</a:t>
                      </a:r>
                    </a:p>
                  </a:txBody>
                  <a:tcPr marL="109728" marR="109728" marT="64008" marB="64008" anchor="ctr">
                    <a:solidFill>
                      <a:srgbClr val="000000"/>
                    </a:solidFill>
                  </a:tcPr>
                </a:tc>
                <a:tc>
                  <a:txBody>
                    <a:bodyPr/>
                    <a:lstStyle/>
                    <a:p>
                      <a:r>
                        <a:rPr sz="1500" b="1">
                          <a:solidFill>
                            <a:srgbClr val="FFFFFF"/>
                          </a:solidFill>
                          <a:latin typeface="Arial"/>
                        </a:rPr>
                        <a:t>When</a:t>
                      </a:r>
                    </a:p>
                  </a:txBody>
                  <a:tcPr marL="109728" marR="109728" marT="64008" marB="64008" anchor="ctr">
                    <a:solidFill>
                      <a:srgbClr val="000000"/>
                    </a:solidFill>
                  </a:tcPr>
                </a:tc>
                <a:extLst>
                  <a:ext uri="{0D108BD9-81ED-4DB2-BD59-A6C34878D82A}">
                    <a16:rowId xmlns:a16="http://schemas.microsoft.com/office/drawing/2014/main" val="10000"/>
                  </a:ext>
                </a:extLst>
              </a:tr>
              <a:tr h="365760">
                <a:tc>
                  <a:txBody>
                    <a:bodyPr/>
                    <a:lstStyle/>
                    <a:p>
                      <a:r>
                        <a:rPr sz="1500" b="1">
                          <a:solidFill>
                            <a:srgbClr val="000000"/>
                          </a:solidFill>
                          <a:latin typeface="Arial"/>
                        </a:rPr>
                        <a:t>Check-in</a:t>
                      </a:r>
                    </a:p>
                  </a:txBody>
                  <a:tcPr marL="109728" marR="109728" marT="64008" marB="64008" anchor="ctr">
                    <a:solidFill>
                      <a:srgbClr val="FFFFFF"/>
                    </a:solidFill>
                  </a:tcPr>
                </a:tc>
                <a:tc>
                  <a:txBody>
                    <a:bodyPr/>
                    <a:lstStyle/>
                    <a:p>
                      <a:r>
                        <a:rPr sz="1500" b="0">
                          <a:solidFill>
                            <a:srgbClr val="3C3C3C"/>
                          </a:solidFill>
                          <a:latin typeface="Arial"/>
                        </a:rPr>
                        <a:t>Daily, 15 min</a:t>
                      </a:r>
                    </a:p>
                  </a:txBody>
                  <a:tcPr marL="109728" marR="109728" marT="64008" marB="64008" anchor="ctr">
                    <a:solidFill>
                      <a:srgbClr val="FFFFFF"/>
                    </a:solidFill>
                  </a:tcPr>
                </a:tc>
                <a:extLst>
                  <a:ext uri="{0D108BD9-81ED-4DB2-BD59-A6C34878D82A}">
                    <a16:rowId xmlns:a16="http://schemas.microsoft.com/office/drawing/2014/main" val="10001"/>
                  </a:ext>
                </a:extLst>
              </a:tr>
              <a:tr h="365760">
                <a:tc>
                  <a:txBody>
                    <a:bodyPr/>
                    <a:lstStyle/>
                    <a:p>
                      <a:r>
                        <a:rPr sz="1500" b="1">
                          <a:solidFill>
                            <a:srgbClr val="000000"/>
                          </a:solidFill>
                          <a:latin typeface="Arial"/>
                        </a:rPr>
                        <a:t>Demo + review</a:t>
                      </a:r>
                    </a:p>
                  </a:txBody>
                  <a:tcPr marL="109728" marR="109728" marT="64008" marB="64008" anchor="ctr">
                    <a:solidFill>
                      <a:srgbClr val="F2F2F2"/>
                    </a:solidFill>
                  </a:tcPr>
                </a:tc>
                <a:tc>
                  <a:txBody>
                    <a:bodyPr/>
                    <a:lstStyle/>
                    <a:p>
                      <a:r>
                        <a:rPr sz="1500" b="0" dirty="0">
                          <a:solidFill>
                            <a:srgbClr val="3C3C3C"/>
                          </a:solidFill>
                          <a:latin typeface="Arial"/>
                        </a:rPr>
                        <a:t>Weekly, with the lead</a:t>
                      </a:r>
                      <a:r>
                        <a:rPr lang="en-US" sz="1500" b="0" dirty="0">
                          <a:solidFill>
                            <a:srgbClr val="3C3C3C"/>
                          </a:solidFill>
                          <a:latin typeface="Arial"/>
                        </a:rPr>
                        <a:t>s</a:t>
                      </a:r>
                      <a:endParaRPr sz="1500" b="0" dirty="0">
                        <a:solidFill>
                          <a:srgbClr val="3C3C3C"/>
                        </a:solidFill>
                        <a:latin typeface="Arial"/>
                      </a:endParaRPr>
                    </a:p>
                  </a:txBody>
                  <a:tcPr marL="109728" marR="109728" marT="64008" marB="64008" anchor="ctr">
                    <a:solidFill>
                      <a:srgbClr val="F2F2F2"/>
                    </a:solidFill>
                  </a:tcPr>
                </a:tc>
                <a:extLst>
                  <a:ext uri="{0D108BD9-81ED-4DB2-BD59-A6C34878D82A}">
                    <a16:rowId xmlns:a16="http://schemas.microsoft.com/office/drawing/2014/main" val="10002"/>
                  </a:ext>
                </a:extLst>
              </a:tr>
              <a:tr h="365760">
                <a:tc>
                  <a:txBody>
                    <a:bodyPr/>
                    <a:lstStyle/>
                    <a:p>
                      <a:r>
                        <a:rPr sz="1500" b="1" dirty="0">
                          <a:solidFill>
                            <a:srgbClr val="000000"/>
                          </a:solidFill>
                          <a:latin typeface="Arial"/>
                        </a:rPr>
                        <a:t>Weekly note</a:t>
                      </a:r>
                    </a:p>
                  </a:txBody>
                  <a:tcPr marL="109728" marR="109728" marT="64008" marB="64008" anchor="ctr">
                    <a:solidFill>
                      <a:srgbClr val="FFFFFF"/>
                    </a:solidFill>
                  </a:tcPr>
                </a:tc>
                <a:tc>
                  <a:txBody>
                    <a:bodyPr/>
                    <a:lstStyle/>
                    <a:p>
                      <a:r>
                        <a:rPr sz="1500" b="0" dirty="0">
                          <a:solidFill>
                            <a:srgbClr val="3C3C3C"/>
                          </a:solidFill>
                          <a:latin typeface="Arial"/>
                        </a:rPr>
                        <a:t>Weekly, </a:t>
                      </a:r>
                      <a:r>
                        <a:rPr lang="en-US" sz="1500" b="0" dirty="0">
                          <a:solidFill>
                            <a:srgbClr val="3C3C3C"/>
                          </a:solidFill>
                          <a:latin typeface="Arial"/>
                        </a:rPr>
                        <a:t>with PM</a:t>
                      </a:r>
                      <a:endParaRPr sz="1500" b="0" dirty="0">
                        <a:solidFill>
                          <a:srgbClr val="3C3C3C"/>
                        </a:solidFill>
                        <a:latin typeface="Arial"/>
                      </a:endParaRPr>
                    </a:p>
                  </a:txBody>
                  <a:tcPr marL="109728" marR="109728" marT="64008" marB="64008" anchor="ctr">
                    <a:solidFill>
                      <a:srgbClr val="FFFFFF"/>
                    </a:solidFill>
                  </a:tcPr>
                </a:tc>
                <a:extLst>
                  <a:ext uri="{0D108BD9-81ED-4DB2-BD59-A6C34878D82A}">
                    <a16:rowId xmlns:a16="http://schemas.microsoft.com/office/drawing/2014/main" val="10003"/>
                  </a:ext>
                </a:extLst>
              </a:tr>
              <a:tr h="365760">
                <a:tc>
                  <a:txBody>
                    <a:bodyPr/>
                    <a:lstStyle/>
                    <a:p>
                      <a:r>
                        <a:rPr sz="1500" b="1">
                          <a:solidFill>
                            <a:srgbClr val="000000"/>
                          </a:solidFill>
                          <a:latin typeface="Arial"/>
                        </a:rPr>
                        <a:t>PR review</a:t>
                      </a:r>
                    </a:p>
                  </a:txBody>
                  <a:tcPr marL="109728" marR="109728" marT="64008" marB="64008" anchor="ctr">
                    <a:solidFill>
                      <a:srgbClr val="F2F2F2"/>
                    </a:solidFill>
                  </a:tcPr>
                </a:tc>
                <a:tc>
                  <a:txBody>
                    <a:bodyPr/>
                    <a:lstStyle/>
                    <a:p>
                      <a:r>
                        <a:rPr sz="1500" b="0" dirty="0">
                          <a:solidFill>
                            <a:srgbClr val="3C3C3C"/>
                          </a:solidFill>
                          <a:latin typeface="Arial"/>
                        </a:rPr>
                        <a:t>Every pull request</a:t>
                      </a:r>
                    </a:p>
                  </a:txBody>
                  <a:tcPr marL="109728" marR="109728" marT="64008" marB="64008" anchor="ctr">
                    <a:solidFill>
                      <a:srgbClr val="F2F2F2"/>
                    </a:solidFill>
                  </a:tcPr>
                </a:tc>
                <a:extLst>
                  <a:ext uri="{0D108BD9-81ED-4DB2-BD59-A6C34878D82A}">
                    <a16:rowId xmlns:a16="http://schemas.microsoft.com/office/drawing/2014/main" val="10004"/>
                  </a:ext>
                </a:extLst>
              </a:tr>
            </a:tbl>
          </a:graphicData>
        </a:graphic>
      </p:graphicFrame>
      <p:sp>
        <p:nvSpPr>
          <p:cNvPr id="19" name="TextBox 18"/>
          <p:cNvSpPr txBox="1"/>
          <p:nvPr/>
        </p:nvSpPr>
        <p:spPr>
          <a:xfrm>
            <a:off x="6278727" y="3977639"/>
            <a:ext cx="5364327" cy="914400"/>
          </a:xfrm>
          <a:prstGeom prst="rect">
            <a:avLst/>
          </a:prstGeom>
          <a:noFill/>
        </p:spPr>
        <p:txBody>
          <a:bodyPr wrap="square" lIns="0" tIns="0" rIns="0" bIns="0" anchor="t">
            <a:spAutoFit/>
          </a:bodyPr>
          <a:lstStyle/>
          <a:p>
            <a:pPr algn="l">
              <a:spcAft>
                <a:spcPts val="400"/>
              </a:spcAft>
            </a:pPr>
            <a:r>
              <a:rPr sz="1300" b="1" i="0">
                <a:solidFill>
                  <a:srgbClr val="000000"/>
                </a:solidFill>
                <a:latin typeface="Arial"/>
              </a:rPr>
              <a:t>Small PRs · never commit keys</a:t>
            </a:r>
          </a:p>
          <a:p>
            <a:pPr algn="l">
              <a:spcAft>
                <a:spcPts val="400"/>
              </a:spcAft>
            </a:pPr>
            <a:r>
              <a:rPr sz="1300" b="1" i="0">
                <a:solidFill>
                  <a:srgbClr val="000000"/>
                </a:solidFill>
                <a:latin typeface="Arial"/>
              </a:rPr>
              <a:t>Cache expensive results · generated Cypher is read-only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457200"/>
            <a:ext cx="11094415" cy="274320"/>
          </a:xfrm>
          <a:prstGeom prst="rect">
            <a:avLst/>
          </a:prstGeom>
          <a:noFill/>
        </p:spPr>
        <p:txBody>
          <a:bodyPr wrap="square" lIns="0" tIns="0" rIns="0" bIns="0" anchor="t">
            <a:spAutoFit/>
          </a:bodyPr>
          <a:lstStyle/>
          <a:p>
            <a:pPr algn="l"/>
            <a:r>
              <a:rPr sz="1200" b="1" i="0" spc="200">
                <a:solidFill>
                  <a:srgbClr val="A100FF"/>
                </a:solidFill>
                <a:latin typeface="Arial"/>
              </a:rPr>
              <a:t>&gt; 05 · KICKOFF</a:t>
            </a:r>
          </a:p>
        </p:txBody>
      </p:sp>
      <p:sp>
        <p:nvSpPr>
          <p:cNvPr id="3" name="TextBox 2"/>
          <p:cNvSpPr txBox="1"/>
          <p:nvPr/>
        </p:nvSpPr>
        <p:spPr>
          <a:xfrm>
            <a:off x="548640" y="749808"/>
            <a:ext cx="11094415" cy="685800"/>
          </a:xfrm>
          <a:prstGeom prst="rect">
            <a:avLst/>
          </a:prstGeom>
          <a:noFill/>
        </p:spPr>
        <p:txBody>
          <a:bodyPr wrap="square" lIns="0" tIns="0" rIns="0" bIns="0" anchor="t">
            <a:spAutoFit/>
          </a:bodyPr>
          <a:lstStyle/>
          <a:p>
            <a:pPr algn="l"/>
            <a:r>
              <a:rPr sz="3400" b="1" i="0">
                <a:solidFill>
                  <a:srgbClr val="000000"/>
                </a:solidFill>
                <a:latin typeface="Arial"/>
              </a:rPr>
              <a:t>Your first week</a:t>
            </a:r>
          </a:p>
        </p:txBody>
      </p:sp>
      <p:sp>
        <p:nvSpPr>
          <p:cNvPr id="4" name="TextBox 3"/>
          <p:cNvSpPr txBox="1"/>
          <p:nvPr/>
        </p:nvSpPr>
        <p:spPr>
          <a:xfrm>
            <a:off x="548640" y="6355080"/>
            <a:ext cx="7315200" cy="274320"/>
          </a:xfrm>
          <a:prstGeom prst="rect">
            <a:avLst/>
          </a:prstGeom>
          <a:noFill/>
        </p:spPr>
        <p:txBody>
          <a:bodyPr wrap="square" lIns="0" tIns="0" rIns="0" bIns="0" anchor="t">
            <a:spAutoFit/>
          </a:bodyPr>
          <a:lstStyle/>
          <a:p>
            <a:pPr algn="l"/>
            <a:r>
              <a:rPr sz="1000" b="0" i="0">
                <a:solidFill>
                  <a:srgbClr val="666666"/>
                </a:solidFill>
                <a:latin typeface="Arial"/>
              </a:rPr>
              <a:t>Zava GraphRAG Agent · Internship kickoff</a:t>
            </a:r>
          </a:p>
        </p:txBody>
      </p:sp>
      <p:sp>
        <p:nvSpPr>
          <p:cNvPr id="5" name="TextBox 4"/>
          <p:cNvSpPr txBox="1"/>
          <p:nvPr/>
        </p:nvSpPr>
        <p:spPr>
          <a:xfrm>
            <a:off x="10728655" y="6355080"/>
            <a:ext cx="914400" cy="153888"/>
          </a:xfrm>
          <a:prstGeom prst="rect">
            <a:avLst/>
          </a:prstGeom>
          <a:noFill/>
        </p:spPr>
        <p:txBody>
          <a:bodyPr wrap="square" lIns="0" tIns="0" rIns="0" bIns="0" anchor="t">
            <a:spAutoFit/>
          </a:bodyPr>
          <a:lstStyle/>
          <a:p>
            <a:pPr algn="r"/>
            <a:r>
              <a:rPr sz="1000" b="0" i="0" dirty="0">
                <a:solidFill>
                  <a:srgbClr val="666666"/>
                </a:solidFill>
                <a:latin typeface="Arial"/>
              </a:rPr>
              <a:t>1</a:t>
            </a:r>
            <a:r>
              <a:rPr lang="en-US" sz="1000" b="0" i="0" dirty="0">
                <a:solidFill>
                  <a:srgbClr val="666666"/>
                </a:solidFill>
                <a:latin typeface="Arial"/>
              </a:rPr>
              <a:t>7</a:t>
            </a:r>
            <a:endParaRPr sz="1000" b="0" i="0" dirty="0">
              <a:solidFill>
                <a:srgbClr val="666666"/>
              </a:solidFill>
              <a:latin typeface="Arial"/>
            </a:endParaRPr>
          </a:p>
        </p:txBody>
      </p:sp>
      <p:sp>
        <p:nvSpPr>
          <p:cNvPr id="6" name="Rounded Rectangle 5"/>
          <p:cNvSpPr/>
          <p:nvPr/>
        </p:nvSpPr>
        <p:spPr>
          <a:xfrm>
            <a:off x="548640" y="1737360"/>
            <a:ext cx="5364327" cy="3657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1965960"/>
            <a:ext cx="4724247" cy="307777"/>
          </a:xfrm>
          <a:prstGeom prst="rect">
            <a:avLst/>
          </a:prstGeom>
          <a:noFill/>
        </p:spPr>
        <p:txBody>
          <a:bodyPr wrap="square" lIns="0" tIns="0" rIns="0" bIns="0" anchor="t">
            <a:spAutoFit/>
          </a:bodyPr>
          <a:lstStyle/>
          <a:p>
            <a:pPr algn="l"/>
            <a:r>
              <a:rPr lang="en-US" sz="2000" b="1" i="0" dirty="0">
                <a:solidFill>
                  <a:srgbClr val="000000"/>
                </a:solidFill>
                <a:latin typeface="Arial"/>
              </a:rPr>
              <a:t>Accenture</a:t>
            </a:r>
            <a:endParaRPr sz="2000" b="1" i="0" dirty="0">
              <a:solidFill>
                <a:srgbClr val="000000"/>
              </a:solidFill>
              <a:latin typeface="Arial"/>
            </a:endParaRPr>
          </a:p>
        </p:txBody>
      </p:sp>
      <p:sp>
        <p:nvSpPr>
          <p:cNvPr id="8" name="Oval 7"/>
          <p:cNvSpPr/>
          <p:nvPr/>
        </p:nvSpPr>
        <p:spPr>
          <a:xfrm>
            <a:off x="868680" y="2514600"/>
            <a:ext cx="310896" cy="310896"/>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Segoe UI Symbol"/>
              </a:rPr>
              <a:t>✓</a:t>
            </a:r>
          </a:p>
        </p:txBody>
      </p:sp>
      <p:sp>
        <p:nvSpPr>
          <p:cNvPr id="9" name="TextBox 8"/>
          <p:cNvSpPr txBox="1"/>
          <p:nvPr/>
        </p:nvSpPr>
        <p:spPr>
          <a:xfrm>
            <a:off x="1325880" y="2532888"/>
            <a:ext cx="4267047" cy="548640"/>
          </a:xfrm>
          <a:prstGeom prst="rect">
            <a:avLst/>
          </a:prstGeom>
          <a:noFill/>
        </p:spPr>
        <p:txBody>
          <a:bodyPr wrap="square" lIns="0" tIns="0" rIns="0" bIns="0" anchor="t">
            <a:spAutoFit/>
          </a:bodyPr>
          <a:lstStyle/>
          <a:p>
            <a:pPr algn="l"/>
            <a:r>
              <a:rPr sz="1500" b="0" i="0">
                <a:solidFill>
                  <a:srgbClr val="3C3C3C"/>
                </a:solidFill>
                <a:latin typeface="Arial"/>
              </a:rPr>
              <a:t>Create the Foundry project, deploy chat + embedding models</a:t>
            </a:r>
          </a:p>
        </p:txBody>
      </p:sp>
      <p:sp>
        <p:nvSpPr>
          <p:cNvPr id="10" name="Oval 9"/>
          <p:cNvSpPr/>
          <p:nvPr/>
        </p:nvSpPr>
        <p:spPr>
          <a:xfrm>
            <a:off x="868680" y="3246120"/>
            <a:ext cx="310896" cy="310896"/>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Segoe UI Symbol"/>
              </a:rPr>
              <a:t>✓</a:t>
            </a:r>
          </a:p>
        </p:txBody>
      </p:sp>
      <p:sp>
        <p:nvSpPr>
          <p:cNvPr id="11" name="TextBox 10"/>
          <p:cNvSpPr txBox="1"/>
          <p:nvPr/>
        </p:nvSpPr>
        <p:spPr>
          <a:xfrm>
            <a:off x="1325880" y="3264408"/>
            <a:ext cx="4267047" cy="548640"/>
          </a:xfrm>
          <a:prstGeom prst="rect">
            <a:avLst/>
          </a:prstGeom>
          <a:noFill/>
        </p:spPr>
        <p:txBody>
          <a:bodyPr wrap="square" lIns="0" tIns="0" rIns="0" bIns="0" anchor="t">
            <a:spAutoFit/>
          </a:bodyPr>
          <a:lstStyle/>
          <a:p>
            <a:pPr algn="l"/>
            <a:r>
              <a:rPr sz="1500" b="0" i="0">
                <a:solidFill>
                  <a:srgbClr val="3C3C3C"/>
                </a:solidFill>
                <a:latin typeface="Arial"/>
              </a:rPr>
              <a:t>Create the Document Intelligence resource</a:t>
            </a:r>
          </a:p>
        </p:txBody>
      </p:sp>
      <p:sp>
        <p:nvSpPr>
          <p:cNvPr id="12" name="Oval 11"/>
          <p:cNvSpPr/>
          <p:nvPr/>
        </p:nvSpPr>
        <p:spPr>
          <a:xfrm>
            <a:off x="868680" y="3977639"/>
            <a:ext cx="310896" cy="310896"/>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Segoe UI Symbol"/>
              </a:rPr>
              <a:t>✓</a:t>
            </a:r>
          </a:p>
        </p:txBody>
      </p:sp>
      <p:sp>
        <p:nvSpPr>
          <p:cNvPr id="13" name="TextBox 12"/>
          <p:cNvSpPr txBox="1"/>
          <p:nvPr/>
        </p:nvSpPr>
        <p:spPr>
          <a:xfrm>
            <a:off x="1325880" y="3995927"/>
            <a:ext cx="4267047" cy="548640"/>
          </a:xfrm>
          <a:prstGeom prst="rect">
            <a:avLst/>
          </a:prstGeom>
          <a:noFill/>
        </p:spPr>
        <p:txBody>
          <a:bodyPr wrap="square" lIns="0" tIns="0" rIns="0" bIns="0" anchor="t">
            <a:spAutoFit/>
          </a:bodyPr>
          <a:lstStyle/>
          <a:p>
            <a:pPr algn="l"/>
            <a:r>
              <a:rPr sz="1500" b="0" i="0">
                <a:solidFill>
                  <a:srgbClr val="3C3C3C"/>
                </a:solidFill>
                <a:latin typeface="Arial"/>
              </a:rPr>
              <a:t>Give access to the repo and Foundry</a:t>
            </a:r>
          </a:p>
        </p:txBody>
      </p:sp>
      <p:sp>
        <p:nvSpPr>
          <p:cNvPr id="14" name="Rounded Rectangle 13"/>
          <p:cNvSpPr/>
          <p:nvPr/>
        </p:nvSpPr>
        <p:spPr>
          <a:xfrm>
            <a:off x="6278727" y="1737360"/>
            <a:ext cx="5364327" cy="3657600"/>
          </a:xfrm>
          <a:prstGeom prst="roundRect">
            <a:avLst>
              <a:gd name="adj" fmla="val 8000"/>
            </a:avLst>
          </a:prstGeom>
          <a:solidFill>
            <a:srgbClr val="FFFFFF"/>
          </a:solidFill>
          <a:ln w="25400">
            <a:solidFill>
              <a:srgbClr val="A100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98767" y="1965960"/>
            <a:ext cx="4724247" cy="365760"/>
          </a:xfrm>
          <a:prstGeom prst="rect">
            <a:avLst/>
          </a:prstGeom>
          <a:noFill/>
        </p:spPr>
        <p:txBody>
          <a:bodyPr wrap="square" lIns="0" tIns="0" rIns="0" bIns="0" anchor="t">
            <a:spAutoFit/>
          </a:bodyPr>
          <a:lstStyle/>
          <a:p>
            <a:pPr algn="l"/>
            <a:r>
              <a:rPr sz="2000" b="1" i="0">
                <a:solidFill>
                  <a:srgbClr val="000000"/>
                </a:solidFill>
                <a:latin typeface="Arial"/>
              </a:rPr>
              <a:t>You</a:t>
            </a:r>
          </a:p>
        </p:txBody>
      </p:sp>
      <p:sp>
        <p:nvSpPr>
          <p:cNvPr id="16" name="Oval 15"/>
          <p:cNvSpPr/>
          <p:nvPr/>
        </p:nvSpPr>
        <p:spPr>
          <a:xfrm>
            <a:off x="6598767" y="2514600"/>
            <a:ext cx="310896" cy="310896"/>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Segoe UI Symbol"/>
              </a:rPr>
              <a:t>✓</a:t>
            </a:r>
          </a:p>
        </p:txBody>
      </p:sp>
      <p:sp>
        <p:nvSpPr>
          <p:cNvPr id="17" name="TextBox 16"/>
          <p:cNvSpPr txBox="1"/>
          <p:nvPr/>
        </p:nvSpPr>
        <p:spPr>
          <a:xfrm>
            <a:off x="7055967" y="2532888"/>
            <a:ext cx="4267047" cy="548640"/>
          </a:xfrm>
          <a:prstGeom prst="rect">
            <a:avLst/>
          </a:prstGeom>
          <a:noFill/>
        </p:spPr>
        <p:txBody>
          <a:bodyPr wrap="square" lIns="0" tIns="0" rIns="0" bIns="0" anchor="t">
            <a:spAutoFit/>
          </a:bodyPr>
          <a:lstStyle/>
          <a:p>
            <a:pPr algn="l"/>
            <a:r>
              <a:rPr sz="1500" b="0" i="0">
                <a:solidFill>
                  <a:srgbClr val="3C3C3C"/>
                </a:solidFill>
                <a:latin typeface="Arial"/>
              </a:rPr>
              <a:t>Install Python 3.12, uv, Docker, Azure CLI, VS Code</a:t>
            </a:r>
          </a:p>
        </p:txBody>
      </p:sp>
      <p:sp>
        <p:nvSpPr>
          <p:cNvPr id="18" name="Oval 17"/>
          <p:cNvSpPr/>
          <p:nvPr/>
        </p:nvSpPr>
        <p:spPr>
          <a:xfrm>
            <a:off x="6598767" y="3246120"/>
            <a:ext cx="310896" cy="310896"/>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Segoe UI Symbol"/>
              </a:rPr>
              <a:t>✓</a:t>
            </a:r>
          </a:p>
        </p:txBody>
      </p:sp>
      <p:sp>
        <p:nvSpPr>
          <p:cNvPr id="19" name="TextBox 18"/>
          <p:cNvSpPr txBox="1"/>
          <p:nvPr/>
        </p:nvSpPr>
        <p:spPr>
          <a:xfrm>
            <a:off x="7055967" y="3264408"/>
            <a:ext cx="4267047" cy="548640"/>
          </a:xfrm>
          <a:prstGeom prst="rect">
            <a:avLst/>
          </a:prstGeom>
          <a:noFill/>
        </p:spPr>
        <p:txBody>
          <a:bodyPr wrap="square" lIns="0" tIns="0" rIns="0" bIns="0" anchor="t">
            <a:spAutoFit/>
          </a:bodyPr>
          <a:lstStyle/>
          <a:p>
            <a:pPr algn="l"/>
            <a:r>
              <a:rPr sz="1500" b="0" i="0">
                <a:solidFill>
                  <a:srgbClr val="3C3C3C"/>
                </a:solidFill>
                <a:latin typeface="Arial"/>
              </a:rPr>
              <a:t>Run Neo4j in Docker, try Cypher at localhost:7474</a:t>
            </a:r>
          </a:p>
        </p:txBody>
      </p:sp>
      <p:sp>
        <p:nvSpPr>
          <p:cNvPr id="20" name="Oval 19"/>
          <p:cNvSpPr/>
          <p:nvPr/>
        </p:nvSpPr>
        <p:spPr>
          <a:xfrm>
            <a:off x="6598767" y="3977639"/>
            <a:ext cx="310896" cy="310896"/>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Segoe UI Symbol"/>
              </a:rPr>
              <a:t>✓</a:t>
            </a:r>
          </a:p>
        </p:txBody>
      </p:sp>
      <p:sp>
        <p:nvSpPr>
          <p:cNvPr id="21" name="TextBox 20"/>
          <p:cNvSpPr txBox="1"/>
          <p:nvPr/>
        </p:nvSpPr>
        <p:spPr>
          <a:xfrm>
            <a:off x="7055967" y="3995927"/>
            <a:ext cx="4267047" cy="548640"/>
          </a:xfrm>
          <a:prstGeom prst="rect">
            <a:avLst/>
          </a:prstGeom>
          <a:noFill/>
        </p:spPr>
        <p:txBody>
          <a:bodyPr wrap="square" lIns="0" tIns="0" rIns="0" bIns="0" anchor="t">
            <a:spAutoFit/>
          </a:bodyPr>
          <a:lstStyle/>
          <a:p>
            <a:pPr algn="l"/>
            <a:r>
              <a:rPr sz="1500" b="0" i="0">
                <a:solidFill>
                  <a:srgbClr val="3C3C3C"/>
                </a:solidFill>
                <a:latin typeface="Arial"/>
              </a:rPr>
              <a:t>Call the Foundry chat model from Python</a:t>
            </a:r>
          </a:p>
        </p:txBody>
      </p:sp>
      <p:sp>
        <p:nvSpPr>
          <p:cNvPr id="22" name="Oval 21"/>
          <p:cNvSpPr/>
          <p:nvPr/>
        </p:nvSpPr>
        <p:spPr>
          <a:xfrm>
            <a:off x="6598767" y="4709160"/>
            <a:ext cx="310896" cy="310896"/>
          </a:xfrm>
          <a:prstGeom prst="ellipse">
            <a:avLst/>
          </a:prstGeom>
          <a:solidFill>
            <a:srgbClr val="A100F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Segoe UI Symbol"/>
              </a:rPr>
              <a:t>✓</a:t>
            </a:r>
          </a:p>
        </p:txBody>
      </p:sp>
      <p:sp>
        <p:nvSpPr>
          <p:cNvPr id="23" name="TextBox 22"/>
          <p:cNvSpPr txBox="1"/>
          <p:nvPr/>
        </p:nvSpPr>
        <p:spPr>
          <a:xfrm>
            <a:off x="7055967" y="4727448"/>
            <a:ext cx="4267047" cy="548640"/>
          </a:xfrm>
          <a:prstGeom prst="rect">
            <a:avLst/>
          </a:prstGeom>
          <a:noFill/>
        </p:spPr>
        <p:txBody>
          <a:bodyPr wrap="square" lIns="0" tIns="0" rIns="0" bIns="0" anchor="t">
            <a:spAutoFit/>
          </a:bodyPr>
          <a:lstStyle/>
          <a:p>
            <a:pPr algn="l"/>
            <a:r>
              <a:rPr sz="1500" b="0" i="0">
                <a:solidFill>
                  <a:srgbClr val="3C3C3C"/>
                </a:solidFill>
                <a:latin typeface="Arial"/>
              </a:rPr>
              <a:t>Read the 7 Zava documents</a:t>
            </a:r>
          </a:p>
        </p:txBody>
      </p:sp>
      <p:sp>
        <p:nvSpPr>
          <p:cNvPr id="24" name="TextBox 23"/>
          <p:cNvSpPr txBox="1"/>
          <p:nvPr/>
        </p:nvSpPr>
        <p:spPr>
          <a:xfrm>
            <a:off x="548640" y="5623560"/>
            <a:ext cx="11094415" cy="457200"/>
          </a:xfrm>
          <a:prstGeom prst="rect">
            <a:avLst/>
          </a:prstGeom>
          <a:noFill/>
        </p:spPr>
        <p:txBody>
          <a:bodyPr wrap="square" lIns="0" tIns="0" rIns="0" bIns="0" anchor="t">
            <a:spAutoFit/>
          </a:bodyPr>
          <a:lstStyle/>
          <a:p>
            <a:pPr algn="l"/>
            <a:r>
              <a:rPr sz="2000" b="1" i="0">
                <a:solidFill>
                  <a:srgbClr val="000000"/>
                </a:solidFill>
                <a:latin typeface="Arial"/>
              </a:rPr>
              <a:t>Done when Neo4j runs and a Foundry model answers on every laptop.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731520" y="1828800"/>
            <a:ext cx="10058400" cy="1097280"/>
          </a:xfrm>
          <a:prstGeom prst="rect">
            <a:avLst/>
          </a:prstGeom>
          <a:noFill/>
        </p:spPr>
        <p:txBody>
          <a:bodyPr wrap="square" lIns="0" tIns="0" rIns="0" bIns="0" anchor="t">
            <a:spAutoFit/>
          </a:bodyPr>
          <a:lstStyle/>
          <a:p>
            <a:pPr algn="l"/>
            <a:r>
              <a:rPr sz="6000" b="1" i="0">
                <a:solidFill>
                  <a:srgbClr val="FFFFFF"/>
                </a:solidFill>
                <a:latin typeface="Arial"/>
              </a:rPr>
              <a:t>Let's build it</a:t>
            </a:r>
          </a:p>
        </p:txBody>
      </p:sp>
      <p:sp>
        <p:nvSpPr>
          <p:cNvPr id="3" name="TextBox 2"/>
          <p:cNvSpPr txBox="1"/>
          <p:nvPr/>
        </p:nvSpPr>
        <p:spPr>
          <a:xfrm>
            <a:off x="731520" y="2971800"/>
            <a:ext cx="7315200" cy="548640"/>
          </a:xfrm>
          <a:prstGeom prst="rect">
            <a:avLst/>
          </a:prstGeom>
          <a:noFill/>
        </p:spPr>
        <p:txBody>
          <a:bodyPr wrap="square" lIns="0" tIns="0" rIns="0" bIns="0" anchor="t">
            <a:spAutoFit/>
          </a:bodyPr>
          <a:lstStyle/>
          <a:p>
            <a:pPr algn="l"/>
            <a:r>
              <a:rPr sz="2400" b="0" i="0">
                <a:solidFill>
                  <a:srgbClr val="CCCCCC"/>
                </a:solidFill>
                <a:latin typeface="Arial"/>
              </a:rPr>
              <a:t>Questions?</a:t>
            </a:r>
          </a:p>
        </p:txBody>
      </p:sp>
      <p:sp>
        <p:nvSpPr>
          <p:cNvPr id="4" name="TextBox 3"/>
          <p:cNvSpPr txBox="1"/>
          <p:nvPr/>
        </p:nvSpPr>
        <p:spPr>
          <a:xfrm>
            <a:off x="731520" y="5120640"/>
            <a:ext cx="2476423" cy="274320"/>
          </a:xfrm>
          <a:prstGeom prst="rect">
            <a:avLst/>
          </a:prstGeom>
          <a:noFill/>
        </p:spPr>
        <p:txBody>
          <a:bodyPr wrap="square" lIns="0" tIns="0" rIns="0" bIns="0" anchor="t">
            <a:spAutoFit/>
          </a:bodyPr>
          <a:lstStyle/>
          <a:p>
            <a:pPr algn="l"/>
            <a:r>
              <a:rPr sz="1100" b="1" i="0" spc="200">
                <a:solidFill>
                  <a:srgbClr val="C77DFF"/>
                </a:solidFill>
                <a:latin typeface="Arial"/>
              </a:rPr>
              <a:t>REPOSITORY</a:t>
            </a:r>
          </a:p>
        </p:txBody>
      </p:sp>
      <p:sp>
        <p:nvSpPr>
          <p:cNvPr id="5" name="TextBox 4"/>
          <p:cNvSpPr txBox="1"/>
          <p:nvPr/>
        </p:nvSpPr>
        <p:spPr>
          <a:xfrm>
            <a:off x="731520" y="5440680"/>
            <a:ext cx="2476423" cy="457200"/>
          </a:xfrm>
          <a:prstGeom prst="rect">
            <a:avLst/>
          </a:prstGeom>
          <a:noFill/>
        </p:spPr>
        <p:txBody>
          <a:bodyPr wrap="square" lIns="0" tIns="0" rIns="0" bIns="0" anchor="t">
            <a:spAutoFit/>
          </a:bodyPr>
          <a:lstStyle/>
          <a:p>
            <a:pPr algn="l"/>
            <a:r>
              <a:rPr sz="1600" b="0" i="0" dirty="0">
                <a:solidFill>
                  <a:srgbClr val="FFFFFF"/>
                </a:solidFill>
                <a:latin typeface="Courier New"/>
              </a:rPr>
              <a:t>[repo link]</a:t>
            </a:r>
          </a:p>
        </p:txBody>
      </p:sp>
      <p:sp>
        <p:nvSpPr>
          <p:cNvPr id="6" name="TextBox 5"/>
          <p:cNvSpPr txBox="1"/>
          <p:nvPr/>
        </p:nvSpPr>
        <p:spPr>
          <a:xfrm>
            <a:off x="3482263" y="5120640"/>
            <a:ext cx="2476423" cy="274320"/>
          </a:xfrm>
          <a:prstGeom prst="rect">
            <a:avLst/>
          </a:prstGeom>
          <a:noFill/>
        </p:spPr>
        <p:txBody>
          <a:bodyPr wrap="square" lIns="0" tIns="0" rIns="0" bIns="0" anchor="t">
            <a:spAutoFit/>
          </a:bodyPr>
          <a:lstStyle/>
          <a:p>
            <a:pPr algn="l"/>
            <a:r>
              <a:rPr sz="1100" b="1" i="0" spc="200">
                <a:solidFill>
                  <a:srgbClr val="C77DFF"/>
                </a:solidFill>
                <a:latin typeface="Arial"/>
              </a:rPr>
              <a:t>SETUP</a:t>
            </a:r>
          </a:p>
        </p:txBody>
      </p:sp>
      <p:sp>
        <p:nvSpPr>
          <p:cNvPr id="7" name="TextBox 6"/>
          <p:cNvSpPr txBox="1"/>
          <p:nvPr/>
        </p:nvSpPr>
        <p:spPr>
          <a:xfrm>
            <a:off x="3482263" y="5440680"/>
            <a:ext cx="2476423" cy="457200"/>
          </a:xfrm>
          <a:prstGeom prst="rect">
            <a:avLst/>
          </a:prstGeom>
          <a:noFill/>
        </p:spPr>
        <p:txBody>
          <a:bodyPr wrap="square" lIns="0" tIns="0" rIns="0" bIns="0" anchor="t">
            <a:spAutoFit/>
          </a:bodyPr>
          <a:lstStyle/>
          <a:p>
            <a:pPr algn="l"/>
            <a:r>
              <a:rPr sz="1600" b="0" i="0">
                <a:solidFill>
                  <a:srgbClr val="FFFFFF"/>
                </a:solidFill>
                <a:latin typeface="Courier New"/>
              </a:rPr>
              <a:t>README.md</a:t>
            </a:r>
          </a:p>
        </p:txBody>
      </p:sp>
      <p:sp>
        <p:nvSpPr>
          <p:cNvPr id="8" name="TextBox 7"/>
          <p:cNvSpPr txBox="1"/>
          <p:nvPr/>
        </p:nvSpPr>
        <p:spPr>
          <a:xfrm>
            <a:off x="6233007" y="5120640"/>
            <a:ext cx="2476423" cy="274320"/>
          </a:xfrm>
          <a:prstGeom prst="rect">
            <a:avLst/>
          </a:prstGeom>
          <a:noFill/>
        </p:spPr>
        <p:txBody>
          <a:bodyPr wrap="square" lIns="0" tIns="0" rIns="0" bIns="0" anchor="t">
            <a:spAutoFit/>
          </a:bodyPr>
          <a:lstStyle/>
          <a:p>
            <a:pPr algn="l"/>
            <a:r>
              <a:rPr sz="1100" b="1" i="0" spc="200">
                <a:solidFill>
                  <a:srgbClr val="C77DFF"/>
                </a:solidFill>
                <a:latin typeface="Arial"/>
              </a:rPr>
              <a:t>FULL PLAN</a:t>
            </a:r>
          </a:p>
        </p:txBody>
      </p:sp>
      <p:sp>
        <p:nvSpPr>
          <p:cNvPr id="9" name="TextBox 8"/>
          <p:cNvSpPr txBox="1"/>
          <p:nvPr/>
        </p:nvSpPr>
        <p:spPr>
          <a:xfrm>
            <a:off x="6233007" y="5440680"/>
            <a:ext cx="2476423" cy="457200"/>
          </a:xfrm>
          <a:prstGeom prst="rect">
            <a:avLst/>
          </a:prstGeom>
          <a:noFill/>
        </p:spPr>
        <p:txBody>
          <a:bodyPr wrap="square" lIns="0" tIns="0" rIns="0" bIns="0" anchor="t">
            <a:spAutoFit/>
          </a:bodyPr>
          <a:lstStyle/>
          <a:p>
            <a:pPr algn="l"/>
            <a:r>
              <a:rPr sz="1600" b="0" i="0">
                <a:solidFill>
                  <a:srgbClr val="FFFFFF"/>
                </a:solidFill>
                <a:latin typeface="Courier New"/>
              </a:rPr>
              <a:t>docs/PLAN.md</a:t>
            </a:r>
          </a:p>
        </p:txBody>
      </p:sp>
      <p:sp>
        <p:nvSpPr>
          <p:cNvPr id="10" name="TextBox 9"/>
          <p:cNvSpPr txBox="1"/>
          <p:nvPr/>
        </p:nvSpPr>
        <p:spPr>
          <a:xfrm>
            <a:off x="8983751" y="5120640"/>
            <a:ext cx="2476423" cy="274320"/>
          </a:xfrm>
          <a:prstGeom prst="rect">
            <a:avLst/>
          </a:prstGeom>
          <a:noFill/>
        </p:spPr>
        <p:txBody>
          <a:bodyPr wrap="square" lIns="0" tIns="0" rIns="0" bIns="0" anchor="t">
            <a:spAutoFit/>
          </a:bodyPr>
          <a:lstStyle/>
          <a:p>
            <a:pPr algn="l"/>
            <a:r>
              <a:rPr sz="1100" b="1" i="0" spc="200">
                <a:solidFill>
                  <a:srgbClr val="C77DFF"/>
                </a:solidFill>
                <a:latin typeface="Arial"/>
              </a:rPr>
              <a:t>CONTACT</a:t>
            </a:r>
          </a:p>
        </p:txBody>
      </p:sp>
      <p:sp>
        <p:nvSpPr>
          <p:cNvPr id="11" name="TextBox 10"/>
          <p:cNvSpPr txBox="1"/>
          <p:nvPr/>
        </p:nvSpPr>
        <p:spPr>
          <a:xfrm>
            <a:off x="8983751" y="5440680"/>
            <a:ext cx="2476423" cy="246221"/>
          </a:xfrm>
          <a:prstGeom prst="rect">
            <a:avLst/>
          </a:prstGeom>
          <a:noFill/>
        </p:spPr>
        <p:txBody>
          <a:bodyPr wrap="square" lIns="0" tIns="0" rIns="0" bIns="0" anchor="t">
            <a:spAutoFit/>
          </a:bodyPr>
          <a:lstStyle/>
          <a:p>
            <a:pPr algn="l"/>
            <a:r>
              <a:rPr sz="1600" b="0" i="0" dirty="0">
                <a:solidFill>
                  <a:srgbClr val="FFFFFF"/>
                </a:solidFill>
                <a:latin typeface="Courier New"/>
              </a:rPr>
              <a:t>[</a:t>
            </a:r>
            <a:r>
              <a:rPr lang="en-US" sz="1600" b="0" i="0" dirty="0" err="1">
                <a:solidFill>
                  <a:srgbClr val="FFFFFF"/>
                </a:solidFill>
                <a:latin typeface="Courier New"/>
              </a:rPr>
              <a:t>vachik</a:t>
            </a:r>
            <a:r>
              <a:rPr lang="en-US" sz="1600" dirty="0" err="1">
                <a:solidFill>
                  <a:srgbClr val="FFFFFF"/>
                </a:solidFill>
                <a:latin typeface="Courier New"/>
              </a:rPr>
              <a:t>.tevosian</a:t>
            </a:r>
            <a:r>
              <a:rPr sz="1600" b="0" i="0" dirty="0">
                <a:solidFill>
                  <a:srgbClr val="FFFFFF"/>
                </a:solidFill>
                <a:latin typeface="Courier New"/>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2153</Words>
  <Application>Microsoft Office PowerPoint</Application>
  <PresentationFormat>Widescreen</PresentationFormat>
  <Paragraphs>400</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Courier New</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Вачик Тевосян</cp:lastModifiedBy>
  <cp:revision>2</cp:revision>
  <dcterms:created xsi:type="dcterms:W3CDTF">2013-01-27T09:14:16Z</dcterms:created>
  <dcterms:modified xsi:type="dcterms:W3CDTF">2026-09-27T15:14:47Z</dcterms:modified>
  <cp:category/>
</cp:coreProperties>
</file>